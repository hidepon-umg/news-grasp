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905" y="3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2077DE2A-2792-6B78-EC9D-0A055E038C89}"/>
              </a:ext>
            </a:extLst>
          </p:cNvPr>
          <p:cNvSpPr txBox="1"/>
          <p:nvPr userDrawn="1"/>
        </p:nvSpPr>
        <p:spPr>
          <a:xfrm>
            <a:off x="11277295" y="6492240"/>
            <a:ext cx="5486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7EE2CB0A-4EF3-4DFD-94EA-854237175325}" type="slidenum">
              <a:rPr lang="en-US" altLang="ja-JP" sz="1600" b="1" smtClean="0">
                <a:solidFill>
                  <a:srgbClr val="1F3A7A"/>
                </a:solidFill>
                <a:latin typeface="メイリオ"/>
                <a:ea typeface="メイリオ"/>
              </a:rPr>
              <a:t>‹#›</a:t>
            </a:fld>
            <a:endParaRPr sz="1600" b="1" dirty="0">
              <a:solidFill>
                <a:srgbClr val="1F3A7A"/>
              </a:solidFill>
              <a:latin typeface="メイリオ"/>
              <a:ea typeface="メイリオ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B1C9AFD8-B7A6-2BF1-D50A-5EE9FAD70F56}"/>
              </a:ext>
            </a:extLst>
          </p:cNvPr>
          <p:cNvSpPr txBox="1"/>
          <p:nvPr userDrawn="1"/>
        </p:nvSpPr>
        <p:spPr>
          <a:xfrm>
            <a:off x="457200" y="6492240"/>
            <a:ext cx="861422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メイリオ"/>
                <a:ea typeface="メイリオ"/>
              </a:rPr>
              <a:t>この資料は、投資判断の参考となる情報の提供を目的としており、投資勧誘を目的とするものではありません。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13C7D7D-CB9A-0A6B-BF87-7DC64B5F2C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327"/>
          <a:stretch>
            <a:fillRect/>
          </a:stretch>
        </p:blipFill>
        <p:spPr>
          <a:xfrm>
            <a:off x="7839464" y="-199505"/>
            <a:ext cx="4352536" cy="70575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5200" b="1">
                <a:solidFill>
                  <a:srgbClr val="1F3A7A"/>
                </a:solidFill>
                <a:latin typeface="メイリオ"/>
                <a:ea typeface="メイリオ"/>
              </a:rPr>
              <a:t>News-Grasp</a:t>
            </a:r>
          </a:p>
          <a:p>
            <a:pPr>
              <a:lnSpc>
                <a:spcPct val="110000"/>
              </a:lnSpc>
            </a:pPr>
            <a:r>
              <a:rPr sz="5200" b="1">
                <a:solidFill>
                  <a:srgbClr val="1F3A7A"/>
                </a:solidFill>
                <a:latin typeface="メイリオ"/>
                <a:ea typeface="メイリオ"/>
              </a:rPr>
              <a:t>アーキテクチャ概要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800" b="0">
                <a:solidFill>
                  <a:srgbClr val="222222"/>
                </a:solidFill>
                <a:latin typeface="メイリオ"/>
                <a:ea typeface="メイリオ"/>
              </a:rPr>
              <a:t>News-Grasp</a:t>
            </a:r>
          </a:p>
          <a:p>
            <a:pPr>
              <a:lnSpc>
                <a:spcPct val="150000"/>
              </a:lnSpc>
            </a:pPr>
            <a:r>
              <a:rPr sz="1800" b="0">
                <a:solidFill>
                  <a:srgbClr val="222222"/>
                </a:solidFill>
                <a:latin typeface="メイリオ"/>
                <a:ea typeface="メイリオ"/>
              </a:rPr>
              <a:t>毎日Web情報収集 + 関連付け解説 Agent</a:t>
            </a:r>
          </a:p>
          <a:p>
            <a:pPr>
              <a:lnSpc>
                <a:spcPct val="150000"/>
              </a:lnSpc>
            </a:pPr>
            <a:r>
              <a:rPr sz="1800" b="0">
                <a:solidFill>
                  <a:srgbClr val="222222"/>
                </a:solidFill>
                <a:latin typeface="メイリオ"/>
                <a:ea typeface="メイリオ"/>
              </a:rPr>
              <a:t>2026年4月28日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2583" y="6035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0" dirty="0">
                <a:solidFill>
                  <a:srgbClr val="666666"/>
                </a:solidFill>
                <a:latin typeface="メイリオ"/>
                <a:ea typeface="メイリオ"/>
              </a:rPr>
              <a:t>Anthropic Routine × GitHub × GAS Webhook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F3A7A"/>
                </a:solidFill>
                <a:latin typeface="メイリオ"/>
                <a:ea typeface="メイリオ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F3A7A"/>
                </a:solidFill>
                <a:latin typeface="メイリオ"/>
                <a:ea typeface="メイリオ"/>
              </a:rP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1371600"/>
            <a:ext cx="822960" cy="82296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メイリオ"/>
                <a:ea typeface="メイリオ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789401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メイリオ"/>
                <a:ea typeface="メイリオ"/>
              </a:rPr>
              <a:t>全体アーキテクチャ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2331720"/>
            <a:ext cx="822960" cy="82296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メイリオ"/>
                <a:ea typeface="メイリオ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23160"/>
            <a:ext cx="789401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メイリオ"/>
                <a:ea typeface="メイリオ"/>
              </a:rPr>
              <a:t>処理フロー（時系列）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291840"/>
            <a:ext cx="822960" cy="82296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メイリオ"/>
                <a:ea typeface="メイリオ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383280"/>
            <a:ext cx="789401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メイリオ"/>
                <a:ea typeface="メイリオ"/>
              </a:rPr>
              <a:t>採用方針の比較と②採用理由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251960"/>
            <a:ext cx="822960" cy="82296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メイリオ"/>
                <a:ea typeface="メイリオ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343400"/>
            <a:ext cx="789401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メイリオ"/>
                <a:ea typeface="メイリオ"/>
              </a:rPr>
              <a:t>認証設計の変遷（B案→A案）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5212080"/>
            <a:ext cx="822960" cy="82296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メイリオ"/>
                <a:ea typeface="メイリオ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303520"/>
            <a:ext cx="789401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メイリオ"/>
                <a:ea typeface="メイリオ"/>
              </a:rPr>
              <a:t>コスト・運用・リスク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F3A7A"/>
                </a:solidFill>
                <a:latin typeface="メイリオ"/>
                <a:ea typeface="メイリオ"/>
              </a:rPr>
              <a:t>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F3A7A"/>
                </a:solidFill>
                <a:latin typeface="メイリオ"/>
                <a:ea typeface="メイリオ"/>
              </a:rPr>
              <a:t>全体アーキテクチャ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194560"/>
            <a:ext cx="2651760" cy="1280160"/>
          </a:xfrm>
          <a:prstGeom prst="roundRect">
            <a:avLst/>
          </a:prstGeom>
          <a:solidFill>
            <a:srgbClr val="1F3A7A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Anthropic Routine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(Sonnet 4.6)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news-grasp-daily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5204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  <a:latin typeface="メイリオ"/>
                <a:ea typeface="メイリオ"/>
              </a:rPr>
              <a:t>毎朝 06:00 JST 起動 (cron: 0 21 * * * UTC)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2468880" cy="1280160"/>
          </a:xfrm>
          <a:prstGeom prst="roundRect">
            <a:avLst/>
          </a:prstGeom>
          <a:solidFill>
            <a:srgbClr val="5FA8E0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GitHub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HIDEPON-UMG/News-Grasp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(private)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666666"/>
                </a:solidFill>
                <a:latin typeface="メイリオ"/>
                <a:ea typeface="メイリオ"/>
              </a:rPr>
              <a:t>digest/  data/  prompts/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554480"/>
            <a:ext cx="2468880" cy="914400"/>
          </a:xfrm>
          <a:prstGeom prst="roundRect">
            <a:avLst/>
          </a:prstGeom>
          <a:solidFill>
            <a:srgbClr val="162B5C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GAS Web App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news-grasp-mailer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743200"/>
            <a:ext cx="2468880" cy="1097280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Gmail</a:t>
            </a:r>
          </a:p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hideki.kusunoki@gmail.com</a:t>
            </a:r>
          </a:p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h2-hiramatsu@nri.co.jp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7315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1F3A7A"/>
                </a:solidFill>
                <a:latin typeface="メイリオ"/>
                <a:ea typeface="メイリオ"/>
              </a:rPr>
              <a:t>Local PC (Windows 11)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66360"/>
            <a:ext cx="2194560" cy="868680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Windows タスク</a:t>
            </a:r>
          </a:p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07:00 JST</a:t>
            </a:r>
          </a:p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news-grasp-pull.bat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5166360"/>
            <a:ext cx="2194560" cy="868680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Obsidian Vault</a:t>
            </a:r>
          </a:p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New's Grasp / News-Grasp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5166360"/>
            <a:ext cx="1920240" cy="868680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ユーザー閲覧</a:t>
            </a:r>
          </a:p>
          <a:p>
            <a:pPr algn="ctr"/>
            <a:r>
              <a:rPr sz="1100" b="1">
                <a:solidFill>
                  <a:srgbClr val="1F3A7A"/>
                </a:solidFill>
                <a:latin typeface="メイリオ"/>
                <a:ea typeface="メイリオ"/>
              </a:rPr>
              <a:t>(digest 同期表示)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017520" y="2651760"/>
            <a:ext cx="1737360" cy="0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17520" y="3108960"/>
            <a:ext cx="1737360" cy="0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17520" y="23317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メイリオ"/>
                <a:ea typeface="メイリオ"/>
              </a:rPr>
              <a:t>PAT 認証 clone / push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406640" y="2011680"/>
            <a:ext cx="1737360" cy="365760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06640" y="16916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666666"/>
                </a:solidFill>
                <a:latin typeface="メイリオ"/>
                <a:ea typeface="メイリオ"/>
              </a:rPr>
              <a:t>HTML POST</a:t>
            </a:r>
          </a:p>
          <a:p>
            <a:pPr algn="ctr"/>
            <a:r>
              <a:rPr sz="900" b="1">
                <a:solidFill>
                  <a:srgbClr val="666666"/>
                </a:solidFill>
                <a:latin typeface="メイリオ"/>
                <a:ea typeface="メイリオ"/>
              </a:rPr>
              <a:t>(client=news-grasp-routine)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78440" y="2468880"/>
            <a:ext cx="0" cy="274320"/>
          </a:xfrm>
          <a:prstGeom prst="line">
            <a:avLst/>
          </a:prstGeom>
          <a:ln w="1905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338560" y="2514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メイリオ"/>
                <a:ea typeface="メイリオ"/>
              </a:rPr>
              <a:t>GmailApp.sendEmail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3520440"/>
            <a:ext cx="0" cy="1645920"/>
          </a:xfrm>
          <a:prstGeom prst="line">
            <a:avLst/>
          </a:prstGeom>
          <a:ln w="19050">
            <a:solidFill>
              <a:srgbClr val="162B5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74519" y="4114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メイリオ"/>
                <a:ea typeface="メイリオ"/>
              </a:rPr>
              <a:t>07:00 git pull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1965960"/>
            <a:ext cx="3108960" cy="1828800"/>
          </a:xfrm>
          <a:prstGeom prst="rect">
            <a:avLst/>
          </a:prstGeom>
          <a:noFill/>
          <a:ln w="9525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18288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メイリオ"/>
                <a:ea typeface="メイリオ"/>
              </a:rPr>
              <a:t>Anthropic Cloud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325880"/>
            <a:ext cx="2743200" cy="2697480"/>
          </a:xfrm>
          <a:prstGeom prst="rect">
            <a:avLst/>
          </a:prstGeom>
          <a:noFill/>
          <a:ln w="9525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06840" y="118872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メイリオ"/>
                <a:ea typeface="メイリオ"/>
              </a:rPr>
              <a:t>Google (GAS / Gmail)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F3A7A"/>
                </a:solidFill>
                <a:latin typeface="メイリオ"/>
                <a:ea typeface="メイリオ"/>
              </a:rPr>
              <a:t>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F3A7A"/>
                </a:solidFill>
                <a:latin typeface="メイリオ"/>
                <a:ea typeface="メイリオ"/>
              </a:rPr>
              <a:t>日次実行の処理フロー（7 ステップ）</a:t>
            </a:r>
          </a:p>
        </p:txBody>
      </p:sp>
      <p:sp>
        <p:nvSpPr>
          <p:cNvPr id="8" name="Oval 7"/>
          <p:cNvSpPr/>
          <p:nvPr/>
        </p:nvSpPr>
        <p:spPr>
          <a:xfrm>
            <a:off x="888274" y="173736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86000"/>
            <a:ext cx="1502228" cy="804672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PAT付き</a:t>
            </a:r>
          </a:p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clone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163824"/>
            <a:ext cx="1502228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git_repository.url</a:t>
            </a:r>
          </a:p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に PAT 埋め込み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2852" y="2688336"/>
            <a:ext cx="118872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27662" y="173736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0868" y="2286000"/>
            <a:ext cx="1502228" cy="804672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プロンプト</a:t>
            </a:r>
          </a:p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読み込み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0868" y="3163824"/>
            <a:ext cx="1502228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prompts/</a:t>
            </a:r>
          </a:p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routine-system.md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2241" y="2688336"/>
            <a:ext cx="118872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167051" y="173736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0257" y="2286000"/>
            <a:ext cx="1502228" cy="804672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Web 検索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90257" y="3163824"/>
            <a:ext cx="1502228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WebSearch x</a:t>
            </a:r>
          </a:p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30〜50 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01629" y="2688336"/>
            <a:ext cx="118872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806440" y="173736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29645" y="2286000"/>
            <a:ext cx="1502228" cy="804672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過去 90日</a:t>
            </a:r>
          </a:p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照合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29645" y="3163824"/>
            <a:ext cx="1502228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data/articles.jsonl</a:t>
            </a:r>
          </a:p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タグ・URL一致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41018" y="2688336"/>
            <a:ext cx="118872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445828" y="173736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9034" y="2286000"/>
            <a:ext cx="1502228" cy="804672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digest</a:t>
            </a:r>
          </a:p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9034" y="3163824"/>
            <a:ext cx="1502228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Markdown</a:t>
            </a:r>
          </a:p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+ JSONL append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80406" y="2688336"/>
            <a:ext cx="118872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085217" y="173736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08422" y="2286000"/>
            <a:ext cx="1502228" cy="804672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commit</a:t>
            </a:r>
          </a:p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&amp; push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08422" y="3163824"/>
            <a:ext cx="1502228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PAT 認証で</a:t>
            </a:r>
          </a:p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origin main 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19795" y="2688336"/>
            <a:ext cx="118872" cy="0"/>
          </a:xfrm>
          <a:prstGeom prst="line">
            <a:avLst/>
          </a:prstGeom>
          <a:ln w="25400">
            <a:solidFill>
              <a:srgbClr val="1F3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724605" y="1737360"/>
            <a:ext cx="548640" cy="548640"/>
          </a:xfrm>
          <a:prstGeom prst="ellipse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7811" y="2286000"/>
            <a:ext cx="1502228" cy="804672"/>
          </a:xfrm>
          <a:prstGeom prst="roundRect">
            <a:avLst/>
          </a:prstGeom>
          <a:solidFill>
            <a:srgbClr val="D9E7F5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メール</a:t>
            </a:r>
          </a:p>
          <a:p>
            <a:pPr algn="ctr"/>
            <a:r>
              <a:rPr sz="1300" b="1">
                <a:solidFill>
                  <a:srgbClr val="1F3A7A"/>
                </a:solidFill>
                <a:latin typeface="メイリオ"/>
                <a:ea typeface="メイリオ"/>
              </a:rPr>
              <a:t>送信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7811" y="3163824"/>
            <a:ext cx="1502228" cy="5852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GAS Webhook</a:t>
            </a:r>
          </a:p>
          <a:p>
            <a:pPr algn="ct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→ Gmail 2宛先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976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メイリオ"/>
                <a:ea typeface="メイリオ"/>
              </a:rPr>
              <a:t>失敗時は最大 3 回リトライ（30s → 60s → 120s）。それでも駄目なら _status.md に失敗を記録し、Webhook で失敗通知を送信。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メイリオ"/>
                <a:ea typeface="メイリオ"/>
              </a:rPr>
              <a:t>git push が認証エラーで落ちた場合は digest 全文をメールに同梱する代替運用へフォールバック。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F3A7A"/>
                </a:solidFill>
                <a:latin typeface="メイリオ"/>
                <a:ea typeface="メイリオ"/>
              </a:rPr>
              <a:t>採用方針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F3A7A"/>
                </a:solidFill>
                <a:latin typeface="メイリオ"/>
                <a:ea typeface="メイリオ"/>
              </a:rPr>
              <a:t>4 案の比較と②採用理由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2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7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809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方針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実装場所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金額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5h 枠消費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PC 依存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①ローカル cron +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ローカル 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$8〜10/月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あり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②/schedule (本構成)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Anthropic クラウド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5〜15%/回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なし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③Hook + claude-mem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Claude Code セッション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8〜15%/回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あり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④Cloud Run + API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GCP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$8〜12/月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0%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なし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57800"/>
            <a:ext cx="11277295" cy="1005839"/>
          </a:xfrm>
          <a:prstGeom prst="rect">
            <a:avLst/>
          </a:prstGeom>
          <a:solidFill>
            <a:srgbClr val="D9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330952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222222"/>
                </a:solidFill>
                <a:latin typeface="メイリオ"/>
                <a:ea typeface="メイリオ"/>
              </a:rPr>
              <a:t>● ②採用: Max 枠で完結、PC 起動非依存、GitHub 経由で Obsidian 連携が成立</a:t>
            </a:r>
          </a:p>
          <a:p>
            <a:pPr>
              <a:lnSpc>
                <a:spcPct val="135000"/>
              </a:lnSpc>
            </a:pPr>
            <a:r>
              <a:rPr sz="1600" b="0">
                <a:solidFill>
                  <a:srgbClr val="222222"/>
                </a:solidFill>
                <a:latin typeface="メイリオ"/>
                <a:ea typeface="メイリオ"/>
              </a:rPr>
              <a:t>● ③は claude-mem が個人作業履歴中心のため Web ニュース蓄積層には不向き</a:t>
            </a:r>
          </a:p>
          <a:p>
            <a:pPr>
              <a:lnSpc>
                <a:spcPct val="135000"/>
              </a:lnSpc>
            </a:pPr>
            <a:r>
              <a:rPr sz="1600" b="0">
                <a:solidFill>
                  <a:srgbClr val="222222"/>
                </a:solidFill>
                <a:latin typeface="メイリオ"/>
                <a:ea typeface="メイリオ"/>
              </a:rPr>
              <a:t>● ①④は確実だが追加課金、①は土日 PC オフ時に止まる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F3A7A"/>
                </a:solidFill>
                <a:latin typeface="メイリオ"/>
                <a:ea typeface="メイリオ"/>
              </a:rPr>
              <a:t>業績ポイント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F3A7A"/>
                </a:solidFill>
                <a:latin typeface="メイリオ"/>
                <a:ea typeface="メイリオ"/>
              </a:rPr>
              <a:t>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95700"/>
            <a:ext cx="256032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メイリオ"/>
                <a:ea typeface="メイリオ"/>
              </a:rPr>
              <a:t>認証設計</a:t>
            </a:r>
            <a:endParaRPr sz="3200" b="1" dirty="0">
              <a:solidFill>
                <a:srgbClr val="FFFFFF"/>
              </a:solidFill>
              <a:latin typeface="メイリオ"/>
              <a:ea typeface="メイリオ"/>
            </a:endParaRPr>
          </a:p>
          <a:p>
            <a:pPr algn="ctr"/>
            <a:r>
              <a:rPr sz="3200" b="1" dirty="0">
                <a:solidFill>
                  <a:srgbClr val="FFFFFF"/>
                </a:solidFill>
                <a:latin typeface="メイリオ"/>
                <a:ea typeface="メイリオ"/>
              </a:rPr>
              <a:t>（</a:t>
            </a:r>
            <a:r>
              <a:rPr sz="3200" b="1" dirty="0" err="1">
                <a:solidFill>
                  <a:srgbClr val="FFFFFF"/>
                </a:solidFill>
                <a:latin typeface="メイリオ"/>
                <a:ea typeface="メイリオ"/>
              </a:rPr>
              <a:t>変遷</a:t>
            </a:r>
            <a:r>
              <a:rPr sz="3200" b="1" dirty="0">
                <a:solidFill>
                  <a:srgbClr val="FFFFFF"/>
                </a:solidFill>
                <a:latin typeface="メイリオ"/>
                <a:ea typeface="メイリオ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2970489"/>
            <a:ext cx="2816352" cy="784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dirty="0">
                <a:solidFill>
                  <a:srgbClr val="D9E7F5"/>
                </a:solidFill>
                <a:latin typeface="メイリオ"/>
                <a:ea typeface="メイリオ"/>
              </a:rPr>
              <a:t>B 案:</a:t>
            </a:r>
            <a:endParaRPr lang="en-US" sz="1700" b="1" dirty="0">
              <a:solidFill>
                <a:srgbClr val="D9E7F5"/>
              </a:solidFill>
              <a:latin typeface="メイリオ"/>
              <a:ea typeface="メイリオ"/>
            </a:endParaRPr>
          </a:p>
          <a:p>
            <a:pPr algn="ctr"/>
            <a:r>
              <a:rPr sz="1700" b="1" dirty="0">
                <a:solidFill>
                  <a:srgbClr val="D9E7F5"/>
                </a:solidFill>
                <a:latin typeface="メイリオ"/>
                <a:ea typeface="メイリオ"/>
              </a:rPr>
              <a:t> URL </a:t>
            </a:r>
            <a:r>
              <a:rPr sz="1700" b="1" dirty="0" err="1">
                <a:solidFill>
                  <a:srgbClr val="D9E7F5"/>
                </a:solidFill>
                <a:latin typeface="メイリオ"/>
                <a:ea typeface="メイリオ"/>
              </a:rPr>
              <a:t>秘匿（試行</a:t>
            </a:r>
            <a:r>
              <a:rPr sz="1700" b="1" dirty="0">
                <a:solidFill>
                  <a:srgbClr val="D9E7F5"/>
                </a:solidFill>
                <a:latin typeface="メイリオ"/>
                <a:ea typeface="メイリオ"/>
              </a:rPr>
              <a:t> → </a:t>
            </a:r>
            <a:r>
              <a:rPr sz="1700" b="1" dirty="0" err="1">
                <a:solidFill>
                  <a:srgbClr val="D9E7F5"/>
                </a:solidFill>
                <a:latin typeface="メイリオ"/>
                <a:ea typeface="メイリオ"/>
              </a:rPr>
              <a:t>断念</a:t>
            </a:r>
            <a:r>
              <a:rPr sz="1700" b="1" dirty="0">
                <a:solidFill>
                  <a:srgbClr val="D9E7F5"/>
                </a:solidFill>
                <a:latin typeface="メイリオ"/>
                <a:ea typeface="メイリオ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2018" y="1429491"/>
            <a:ext cx="803117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1F3A7A"/>
                </a:solidFill>
                <a:latin typeface="メイリオ"/>
                <a:ea typeface="メイリオ"/>
              </a:rPr>
              <a:t>■ B 案: URL </a:t>
            </a:r>
            <a:r>
              <a:rPr sz="2200" b="1" dirty="0" err="1">
                <a:solidFill>
                  <a:srgbClr val="1F3A7A"/>
                </a:solidFill>
                <a:latin typeface="メイリオ"/>
                <a:ea typeface="メイリオ"/>
              </a:rPr>
              <a:t>秘匿（試行</a:t>
            </a:r>
            <a:r>
              <a:rPr sz="2200" b="1" dirty="0">
                <a:solidFill>
                  <a:srgbClr val="1F3A7A"/>
                </a:solidFill>
                <a:latin typeface="メイリオ"/>
                <a:ea typeface="メイリオ"/>
              </a:rPr>
              <a:t> → </a:t>
            </a:r>
            <a:r>
              <a:rPr sz="2200" b="1" dirty="0" err="1">
                <a:solidFill>
                  <a:srgbClr val="1F3A7A"/>
                </a:solidFill>
                <a:latin typeface="メイリオ"/>
                <a:ea typeface="メイリオ"/>
              </a:rPr>
              <a:t>断念</a:t>
            </a:r>
            <a:r>
              <a:rPr sz="2200" b="1" dirty="0">
                <a:solidFill>
                  <a:srgbClr val="1F3A7A"/>
                </a:solidFill>
                <a:latin typeface="メイリオ"/>
                <a:ea typeface="メイリオ"/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2312" y="1909549"/>
            <a:ext cx="8362151" cy="14865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Anthropic Routine API は secrets を Routine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に渡す機構なし</a:t>
            </a:r>
            <a:endParaRPr sz="1400" b="0" dirty="0">
              <a:solidFill>
                <a:srgbClr val="222222"/>
              </a:solidFill>
              <a:latin typeface="メイリオ"/>
              <a:ea typeface="メイリオ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claude.ai/connectors の GitHub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連携は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Chat / Projects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用で、Routine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の private repo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認証とは別経路</a:t>
            </a:r>
            <a:endParaRPr sz="1400" b="0" dirty="0">
              <a:solidFill>
                <a:srgbClr val="222222"/>
              </a:solidFill>
              <a:latin typeface="メイリオ"/>
              <a:ea typeface="メイリオ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GAS の secret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検証を撤廃し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URL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自体を秘匿に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→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認可問題を回避する設計に変更</a:t>
            </a:r>
            <a:br>
              <a:rPr lang="en-US" sz="1400" dirty="0">
                <a:solidFill>
                  <a:srgbClr val="222222"/>
                </a:solidFill>
                <a:latin typeface="メイリオ"/>
                <a:ea typeface="メイリオ"/>
              </a:rPr>
            </a:b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→ Anthropic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側の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private repo OAuth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が未対応で動作不可と判明、A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案へフォールバック</a:t>
            </a:r>
            <a:endParaRPr sz="1400" b="0" dirty="0">
              <a:solidFill>
                <a:srgbClr val="222222"/>
              </a:solidFill>
              <a:latin typeface="メイリオ"/>
              <a:ea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401741"/>
            <a:ext cx="256032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メイリオ"/>
                <a:ea typeface="メイリオ"/>
              </a:rPr>
              <a:t>認証設計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メイリオ"/>
                <a:ea typeface="メイリオ"/>
              </a:rPr>
              <a:t>（変遷）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5576530"/>
            <a:ext cx="2816352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dirty="0">
                <a:solidFill>
                  <a:srgbClr val="D9E7F5"/>
                </a:solidFill>
                <a:latin typeface="メイリオ"/>
                <a:ea typeface="メイリオ"/>
              </a:rPr>
              <a:t>A 案: </a:t>
            </a:r>
            <a:endParaRPr lang="en-US" sz="1700" b="1" dirty="0">
              <a:solidFill>
                <a:srgbClr val="D9E7F5"/>
              </a:solidFill>
              <a:latin typeface="メイリオ"/>
              <a:ea typeface="メイリオ"/>
            </a:endParaRPr>
          </a:p>
          <a:p>
            <a:pPr algn="ctr"/>
            <a:r>
              <a:rPr sz="1700" b="1" dirty="0">
                <a:solidFill>
                  <a:srgbClr val="D9E7F5"/>
                </a:solidFill>
                <a:latin typeface="メイリオ"/>
                <a:ea typeface="メイリオ"/>
              </a:rPr>
              <a:t>PAT </a:t>
            </a:r>
            <a:r>
              <a:rPr sz="1700" b="1" dirty="0" err="1">
                <a:solidFill>
                  <a:srgbClr val="D9E7F5"/>
                </a:solidFill>
                <a:latin typeface="メイリオ"/>
                <a:ea typeface="メイリオ"/>
              </a:rPr>
              <a:t>埋め込み（採用</a:t>
            </a:r>
            <a:r>
              <a:rPr sz="1700" b="1" dirty="0">
                <a:solidFill>
                  <a:srgbClr val="D9E7F5"/>
                </a:solidFill>
                <a:latin typeface="メイリオ"/>
                <a:ea typeface="メイリオ"/>
              </a:rPr>
              <a:t>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2018" y="4035531"/>
            <a:ext cx="803117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1F3A7A"/>
                </a:solidFill>
                <a:latin typeface="メイリオ"/>
                <a:ea typeface="メイリオ"/>
              </a:rPr>
              <a:t>■ A 案: PAT </a:t>
            </a:r>
            <a:r>
              <a:rPr sz="2200" b="1" dirty="0" err="1">
                <a:solidFill>
                  <a:srgbClr val="1F3A7A"/>
                </a:solidFill>
                <a:latin typeface="メイリオ"/>
                <a:ea typeface="メイリオ"/>
              </a:rPr>
              <a:t>埋め込み（採用</a:t>
            </a:r>
            <a:r>
              <a:rPr sz="2200" b="1" dirty="0">
                <a:solidFill>
                  <a:srgbClr val="1F3A7A"/>
                </a:solidFill>
                <a:latin typeface="メイリオ"/>
                <a:ea typeface="メイリオ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2312" y="4515589"/>
            <a:ext cx="8362151" cy="14865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source URL に GitHub PAT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を埋め込み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: https://x-access-token:&lt;PAT&gt;@github.com/HIDEPON-UMG/News-Grasp</a:t>
            </a: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PAT は News-Grasp 1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リポジトリの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Contents R/W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のみ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→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漏洩しても影響範囲を限定</a:t>
            </a:r>
            <a:endParaRPr sz="1400" b="0" dirty="0">
              <a:solidFill>
                <a:srgbClr val="222222"/>
              </a:solidFill>
              <a:latin typeface="メイリオ"/>
              <a:ea typeface="メイリオ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ローテートは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GitHub Settings で revoke +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新規発行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+ Routine update の 3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ステップ</a:t>
            </a:r>
            <a:endParaRPr sz="1400" b="0" dirty="0">
              <a:solidFill>
                <a:srgbClr val="222222"/>
              </a:solidFill>
              <a:latin typeface="メイリオ"/>
              <a:ea typeface="メイリオ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GAS Webhook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側は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client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識別子チェック</a:t>
            </a:r>
            <a:r>
              <a:rPr sz="1400" b="0" dirty="0">
                <a:solidFill>
                  <a:srgbClr val="222222"/>
                </a:solidFill>
                <a:latin typeface="メイリオ"/>
                <a:ea typeface="メイリオ"/>
              </a:rPr>
              <a:t> + </a:t>
            </a:r>
            <a:r>
              <a:rPr sz="1400" b="0" dirty="0" err="1">
                <a:solidFill>
                  <a:srgbClr val="222222"/>
                </a:solidFill>
                <a:latin typeface="メイリオ"/>
                <a:ea typeface="メイリオ"/>
              </a:rPr>
              <a:t>宛先ホワイトリストで二重防御を維持</a:t>
            </a:r>
            <a:endParaRPr sz="1400" b="0" dirty="0">
              <a:solidFill>
                <a:srgbClr val="222222"/>
              </a:solidFill>
              <a:latin typeface="メイリオ"/>
              <a:ea typeface="メイリオ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F3A7A"/>
                </a:solidFill>
                <a:latin typeface="メイリオ"/>
                <a:ea typeface="メイリオ"/>
              </a:rPr>
              <a:t>コスト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F3A7A"/>
                </a:solidFill>
                <a:latin typeface="メイリオ"/>
                <a:ea typeface="メイリオ"/>
              </a:rPr>
              <a:t>月額コスト内訳（追加課金ゼロ）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292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6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6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項目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課金経路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月額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備考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Anthropic Routine 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Max サブスク内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5h 枠の 5〜15%/回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GitHub プライベート repo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個人プラン無料枠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Contents R/W PAT を利用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GAS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Workspace 無料枠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Gmail 送信は 100 通/日まで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メール配信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Gmail (GAS 経由)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送信元 hidepontrainer@gmail.com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Max 既存契約のみで完結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603832" y="1261872"/>
            <a:ext cx="2592762" cy="3877055"/>
          </a:xfrm>
          <a:prstGeom prst="rect">
            <a:avLst/>
          </a:prstGeom>
          <a:noFill/>
          <a:ln w="31750">
            <a:solidFill>
              <a:srgbClr val="5FA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5257800"/>
            <a:ext cx="11277295" cy="1005839"/>
          </a:xfrm>
          <a:prstGeom prst="rect">
            <a:avLst/>
          </a:prstGeom>
          <a:solidFill>
            <a:srgbClr val="D9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330952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222222"/>
                </a:solidFill>
                <a:latin typeface="メイリオ"/>
                <a:ea typeface="メイリオ"/>
              </a:rPr>
              <a:t>● 5h 枠は朝 6 時実行のためユーザーの作業時間と干渉しない</a:t>
            </a:r>
          </a:p>
          <a:p>
            <a:pPr>
              <a:lnSpc>
                <a:spcPct val="135000"/>
              </a:lnSpc>
            </a:pPr>
            <a:r>
              <a:rPr sz="1600" b="0">
                <a:solidFill>
                  <a:srgbClr val="222222"/>
                </a:solidFill>
                <a:latin typeface="メイリオ"/>
                <a:ea typeface="メイリオ"/>
              </a:rPr>
              <a:t>● 30〜50 記事/日 × 4 ジャンルでも 1 回の Sonnet 入力 80k tok 程度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F3A7A"/>
                </a:solidFill>
                <a:latin typeface="メイリオ"/>
                <a:ea typeface="メイリオ"/>
              </a:rPr>
              <a:t>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F3A7A"/>
                </a:solidFill>
                <a:latin typeface="メイリオ"/>
                <a:ea typeface="メイリオ"/>
              </a:rPr>
              <a:t>曜日別ジャンル割り振り（毎朝 06:00 JST 起動）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57023"/>
              </p:ext>
            </p:extLst>
          </p:nvPr>
        </p:nvGraphicFramePr>
        <p:xfrm>
          <a:off x="457200" y="1280160"/>
          <a:ext cx="112772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3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3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曜日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AI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IT&amp;コンサル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経済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ゲーム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計</a:t>
                      </a:r>
                    </a:p>
                  </a:txBody>
                  <a:tcPr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火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木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土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57800"/>
            <a:ext cx="11277295" cy="1005839"/>
          </a:xfrm>
          <a:prstGeom prst="rect">
            <a:avLst/>
          </a:prstGeom>
          <a:solidFill>
            <a:srgbClr val="D9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330952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222222"/>
                </a:solidFill>
                <a:latin typeface="メイリオ"/>
                <a:ea typeface="メイリオ"/>
              </a:rPr>
              <a:t>● 為替（日経平均 / S&amp;P500 / USD-JPY）は経済セクション冒頭に毎日掲載</a:t>
            </a:r>
          </a:p>
          <a:p>
            <a:pPr>
              <a:lnSpc>
                <a:spcPct val="135000"/>
              </a:lnSpc>
            </a:pPr>
            <a:r>
              <a:rPr sz="1600" b="0">
                <a:solidFill>
                  <a:srgbClr val="222222"/>
                </a:solidFill>
                <a:latin typeface="メイリオ"/>
                <a:ea typeface="メイリオ"/>
              </a:rPr>
              <a:t>● 土日は AI レポート末尾にミニ要約のみ付与</a:t>
            </a:r>
          </a:p>
          <a:p>
            <a:pPr>
              <a:lnSpc>
                <a:spcPct val="135000"/>
              </a:lnSpc>
            </a:pPr>
            <a:r>
              <a:rPr sz="1600" b="0">
                <a:solidFill>
                  <a:srgbClr val="222222"/>
                </a:solidFill>
                <a:latin typeface="メイリオ"/>
                <a:ea typeface="メイリオ"/>
              </a:rPr>
              <a:t>● watchlist 編集はボルト内 data/watchlist.md → push で翌朝反映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45720" cy="548640"/>
          </a:xfrm>
          <a:prstGeom prst="rect">
            <a:avLst/>
          </a:prstGeom>
          <a:solidFill>
            <a:srgbClr val="1F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38328"/>
            <a:ext cx="1109441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F3A7A"/>
                </a:solidFill>
                <a:latin typeface="メイリオ"/>
                <a:ea typeface="メイリオ"/>
              </a:rPr>
              <a:t>業績ポイント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F3A7A"/>
                </a:solidFill>
                <a:latin typeface="メイリオ"/>
                <a:ea typeface="メイリオ"/>
              </a:rPr>
              <a:t>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2560320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</a:rPr>
              <a:t>制約・リスク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79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D9E7F5"/>
                </a:solidFill>
                <a:latin typeface="メイリオ"/>
                <a:ea typeface="メイリオ"/>
              </a:rPr>
              <a:t>情報源・配信の制約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25880"/>
            <a:ext cx="803117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F3A7A"/>
                </a:solidFill>
                <a:latin typeface="メイリオ"/>
                <a:ea typeface="メイリオ"/>
              </a:rPr>
              <a:t>■ 情報源・配信の制約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2606" y="1828800"/>
            <a:ext cx="8192602" cy="1354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85750" indent="-285750">
              <a:lnSpc>
                <a:spcPct val="140000"/>
              </a:lnSpc>
              <a:buFont typeface="Wingdings" panose="05000000000000000000" pitchFamily="2" charset="2"/>
              <a:buChar char="l"/>
              <a:defRPr sz="1400" b="0">
                <a:solidFill>
                  <a:srgbClr val="222222"/>
                </a:solidFill>
                <a:latin typeface="メイリオ"/>
                <a:ea typeface="メイリオ"/>
              </a:defRPr>
            </a:lvl1pPr>
          </a:lstStyle>
          <a:p>
            <a:r>
              <a:rPr dirty="0"/>
              <a:t>NewsPicks </a:t>
            </a:r>
            <a:r>
              <a:rPr dirty="0" err="1"/>
              <a:t>有料記事は認証不可</a:t>
            </a:r>
            <a:r>
              <a:rPr dirty="0"/>
              <a:t> → </a:t>
            </a:r>
            <a:r>
              <a:rPr dirty="0" err="1"/>
              <a:t>公開部分のみ参照</a:t>
            </a:r>
            <a:endParaRPr dirty="0"/>
          </a:p>
          <a:p>
            <a:r>
              <a:rPr dirty="0"/>
              <a:t>NRI 宛メール（h2-hiramatsu@nri.co.jp）は外部メールフィルタで弾かれる可能性</a:t>
            </a:r>
            <a:br>
              <a:rPr lang="en-US" dirty="0"/>
            </a:br>
            <a:r>
              <a:rPr dirty="0"/>
              <a:t>→ </a:t>
            </a:r>
            <a:r>
              <a:rPr dirty="0" err="1"/>
              <a:t>不達時は</a:t>
            </a:r>
            <a:r>
              <a:rPr dirty="0"/>
              <a:t> hideki.kusunoki@gmail.com </a:t>
            </a:r>
            <a:r>
              <a:rPr dirty="0" err="1"/>
              <a:t>で受信し、必要なら手動転送する代替運用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2926080" cy="2331720"/>
          </a:xfrm>
          <a:prstGeom prst="rect">
            <a:avLst/>
          </a:prstGeom>
          <a:solidFill>
            <a:srgbClr val="16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2560320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</a:rPr>
              <a:t>制約・リスク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D9E7F5"/>
                </a:solidFill>
                <a:latin typeface="メイリオ"/>
                <a:ea typeface="メイリオ"/>
              </a:rPr>
              <a:t>PAT 漏洩リスクと対応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31920"/>
            <a:ext cx="803117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F3A7A"/>
                </a:solidFill>
                <a:latin typeface="メイリオ"/>
                <a:ea typeface="メイリオ"/>
              </a:rPr>
              <a:t>■ PAT 漏洩リスクと対応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2606" y="4434840"/>
            <a:ext cx="8192602" cy="1691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85750" indent="-285750">
              <a:lnSpc>
                <a:spcPct val="140000"/>
              </a:lnSpc>
              <a:buFont typeface="Wingdings" panose="05000000000000000000" pitchFamily="2" charset="2"/>
              <a:buChar char="l"/>
              <a:defRPr sz="1400" b="0">
                <a:solidFill>
                  <a:srgbClr val="222222"/>
                </a:solidFill>
                <a:latin typeface="メイリオ"/>
                <a:ea typeface="メイリオ"/>
              </a:defRPr>
            </a:lvl1pPr>
          </a:lstStyle>
          <a:p>
            <a:r>
              <a:rPr dirty="0"/>
              <a:t>PAT は Anthropic Routine </a:t>
            </a:r>
            <a:r>
              <a:rPr dirty="0" err="1"/>
              <a:t>設定に保管</a:t>
            </a:r>
            <a:r>
              <a:rPr dirty="0"/>
              <a:t> → Anthropic </a:t>
            </a:r>
            <a:r>
              <a:rPr dirty="0" err="1"/>
              <a:t>を信頼する前提</a:t>
            </a:r>
            <a:endParaRPr dirty="0"/>
          </a:p>
          <a:p>
            <a:r>
              <a:rPr dirty="0" err="1"/>
              <a:t>影響範囲</a:t>
            </a:r>
            <a:r>
              <a:rPr dirty="0"/>
              <a:t>: News-Grasp 1 </a:t>
            </a:r>
            <a:r>
              <a:rPr dirty="0" err="1"/>
              <a:t>リポジトリのみ（他</a:t>
            </a:r>
            <a:r>
              <a:rPr dirty="0"/>
              <a:t> repo </a:t>
            </a:r>
            <a:r>
              <a:rPr dirty="0" err="1"/>
              <a:t>に波及しない</a:t>
            </a:r>
            <a:r>
              <a:rPr dirty="0"/>
              <a:t>）</a:t>
            </a:r>
          </a:p>
          <a:p>
            <a:r>
              <a:rPr dirty="0" err="1"/>
              <a:t>ローテート</a:t>
            </a:r>
            <a:r>
              <a:rPr dirty="0"/>
              <a:t>: github.com/settings/tokens で revoke → </a:t>
            </a:r>
            <a:r>
              <a:rPr dirty="0" err="1"/>
              <a:t>新規発行</a:t>
            </a:r>
            <a:r>
              <a:rPr dirty="0"/>
              <a:t> → /schedule update</a:t>
            </a:r>
          </a:p>
          <a:p>
            <a:r>
              <a:rPr dirty="0" err="1"/>
              <a:t>推奨頻度</a:t>
            </a:r>
            <a:r>
              <a:rPr dirty="0"/>
              <a:t>: 1 </a:t>
            </a:r>
            <a:r>
              <a:rPr dirty="0" err="1"/>
              <a:t>年に</a:t>
            </a:r>
            <a:r>
              <a:rPr dirty="0"/>
              <a:t> 1 </a:t>
            </a:r>
            <a:r>
              <a:rPr dirty="0" err="1"/>
              <a:t>回（PAT</a:t>
            </a:r>
            <a:r>
              <a:rPr dirty="0"/>
              <a:t> の expiration </a:t>
            </a:r>
            <a:r>
              <a:rPr dirty="0" err="1"/>
              <a:t>と合わせる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14600"/>
            <a:ext cx="103628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>
                <a:solidFill>
                  <a:srgbClr val="1F3A7A"/>
                </a:solidFill>
                <a:latin typeface="Segoe UI"/>
                <a:ea typeface="Segoe UI"/>
              </a:rPr>
              <a:t>News-Grasp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8620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  <a:latin typeface="メイリオ"/>
                <a:ea typeface="メイリオ"/>
              </a:rPr>
              <a:t>2026-04-28 / Architecture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765</Words>
  <Application>Microsoft Office PowerPoint</Application>
  <PresentationFormat>ワイド画面</PresentationFormat>
  <Paragraphs>232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メイリオ</vt:lpstr>
      <vt:lpstr>Arial</vt:lpstr>
      <vt:lpstr>Calibri</vt:lpstr>
      <vt:lpstr>Segoe UI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秀基 平松</cp:lastModifiedBy>
  <cp:revision>4</cp:revision>
  <dcterms:created xsi:type="dcterms:W3CDTF">2013-01-27T09:14:16Z</dcterms:created>
  <dcterms:modified xsi:type="dcterms:W3CDTF">2026-04-27T16:46:26Z</dcterms:modified>
  <cp:category/>
</cp:coreProperties>
</file>