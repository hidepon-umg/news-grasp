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6492240"/>
            <a:ext cx="733024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メイリオ"/>
                <a:ea typeface="メイリオ"/>
              </a:rPr>
              <a:t>本資料は News-Grasp プロジェクトの内部設計メモです。社外配布は想定していません。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911535" y="6492240"/>
            <a:ext cx="3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5FFEB6E0-DF3C-41E8-AD19-C6C3A8866004}" type="slidenum">
              <a:rPr lang="ja-JP" sz="1300" b="0">
                <a:solidFill>
                  <a:srgbClr val="222222"/>
                </a:solidFill>
                <a:latin typeface="メイリオ"/>
                <a:ea typeface="メイリオ"/>
              </a:rPr>
              <a:t>‹#›</a:t>
            </a:fld>
          </a:p>
        </p:txBody>
      </p:sp>
      <p:sp>
        <p:nvSpPr>
          <p:cNvPr id="2" name="TextBox 1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sz="1600">
                <a:solidFill>
                  <a:srgbClr val="1F3A7A"/>
                </a:solidFill>
                <a:latin typeface="メイリオ"/>
                <a:ea typeface="メイリオ"/>
              </a:rPr>
              <a:t>News-Grasp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b="1" sz="5200">
                <a:solidFill>
                  <a:srgbClr val="1F3A7A"/>
                </a:solidFill>
                <a:latin typeface="メイリオ"/>
                <a:ea typeface="メイリオ"/>
              </a:rPr>
              <a:t>News-Grasp</a:t>
            </a:r>
          </a:p>
          <a:p>
            <a:pPr>
              <a:lnSpc>
                <a:spcPct val="110000"/>
              </a:lnSpc>
            </a:pPr>
            <a:r>
              <a:rPr b="1" sz="5200">
                <a:solidFill>
                  <a:srgbClr val="1F3A7A"/>
                </a:solidFill>
                <a:latin typeface="メイリオ"/>
                <a:ea typeface="メイリオ"/>
              </a:rPr>
              <a:t>仕様 &amp; 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News-Grasp</a:t>
            </a:r>
          </a:p>
          <a:p>
            <a:pPr>
              <a:lnSpc>
                <a:spcPct val="150000"/>
              </a:lnSpc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毎日 Web 情報収集 + 関連付け解説 Agent</a:t>
            </a:r>
          </a:p>
          <a:p>
            <a:pPr>
              <a:lnSpc>
                <a:spcPct val="150000"/>
              </a:lnSpc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2026年4月28日 / 最終運用形態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6217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b="0" sz="1400">
                <a:solidFill>
                  <a:srgbClr val="666666"/>
                </a:solidFill>
                <a:latin typeface="メイリオ"/>
                <a:ea typeface="メイリオ"/>
              </a:rPr>
              <a:t>Local Claude Code × GitHub × GAS Webhook · D-plan</a:t>
            </a:r>
          </a:p>
        </p:txBody>
      </p:sp>
      <p:pic>
        <p:nvPicPr>
          <p:cNvPr id="6" name="Picture 5" descr="cover-ai-compr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917" y="274320"/>
            <a:ext cx="372362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700">
                <a:solidFill>
                  <a:srgbClr val="1F3A7A"/>
                </a:solidFill>
                <a:latin typeface="メイリオ"/>
                <a:ea typeface="メイリオ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b="1" sz="3000">
                <a:solidFill>
                  <a:srgbClr val="1F3A7A"/>
                </a:solidFill>
                <a:latin typeface="メイリオ"/>
                <a:ea typeface="メイリオ"/>
              </a:rP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1371600"/>
            <a:ext cx="718457" cy="718457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600">
                <a:solidFill>
                  <a:srgbClr val="FFFFFF"/>
                </a:solidFill>
                <a:latin typeface="メイリオ"/>
                <a:ea typeface="メイリオ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7894015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b="1" sz="2400">
                <a:solidFill>
                  <a:srgbClr val="222222"/>
                </a:solidFill>
                <a:latin typeface="メイリオ"/>
                <a:ea typeface="メイリオ"/>
              </a:rPr>
              <a:t>全体アーキテクチャ（D 案）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2227217"/>
            <a:ext cx="718457" cy="718457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600">
                <a:solidFill>
                  <a:srgbClr val="FFFFFF"/>
                </a:solidFill>
                <a:latin typeface="メイリオ"/>
                <a:ea typeface="メイリオ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318657"/>
            <a:ext cx="7894015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b="1" sz="2400">
                <a:solidFill>
                  <a:srgbClr val="222222"/>
                </a:solidFill>
                <a:latin typeface="メイリオ"/>
                <a:ea typeface="メイリオ"/>
              </a:rPr>
              <a:t>処理フロー（8 ステップ）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082834"/>
            <a:ext cx="718457" cy="718457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600">
                <a:solidFill>
                  <a:srgbClr val="FFFFFF"/>
                </a:solidFill>
                <a:latin typeface="メイリオ"/>
                <a:ea typeface="メイリオ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174274"/>
            <a:ext cx="7894015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b="1" sz="2400">
                <a:solidFill>
                  <a:srgbClr val="222222"/>
                </a:solidFill>
                <a:latin typeface="メイリオ"/>
                <a:ea typeface="メイリオ"/>
              </a:rPr>
              <a:t>デザインシステム &amp; 5 カテゴリ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3938451"/>
            <a:ext cx="718457" cy="718457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600">
                <a:solidFill>
                  <a:srgbClr val="FFFFFF"/>
                </a:solidFill>
                <a:latin typeface="メイリオ"/>
                <a:ea typeface="メイリオ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029891"/>
            <a:ext cx="7894015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b="1" sz="2400">
                <a:solidFill>
                  <a:srgbClr val="222222"/>
                </a:solidFill>
                <a:latin typeface="メイリオ"/>
                <a:ea typeface="メイリオ"/>
              </a:rPr>
              <a:t>曜日マトリクス &amp; サムネ運用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4794068"/>
            <a:ext cx="718457" cy="718457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600">
                <a:solidFill>
                  <a:srgbClr val="FFFFFF"/>
                </a:solidFill>
                <a:latin typeface="メイリオ"/>
                <a:ea typeface="メイリオ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85508"/>
            <a:ext cx="7894015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b="1" sz="2400">
                <a:solidFill>
                  <a:srgbClr val="222222"/>
                </a:solidFill>
                <a:latin typeface="メイリオ"/>
                <a:ea typeface="メイリオ"/>
              </a:rPr>
              <a:t>採用方針の変遷（② → D 案）</a:t>
            </a:r>
          </a:p>
        </p:txBody>
      </p:sp>
      <p:sp>
        <p:nvSpPr>
          <p:cNvPr id="15" name="Oval 14"/>
          <p:cNvSpPr/>
          <p:nvPr/>
        </p:nvSpPr>
        <p:spPr>
          <a:xfrm>
            <a:off x="1828800" y="5649685"/>
            <a:ext cx="718457" cy="718457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600">
                <a:solidFill>
                  <a:srgbClr val="FFFFFF"/>
                </a:solidFill>
                <a:latin typeface="メイリオ"/>
                <a:ea typeface="メイリオ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741125"/>
            <a:ext cx="7894015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b="1" sz="2400">
                <a:solidFill>
                  <a:srgbClr val="222222"/>
                </a:solidFill>
                <a:latin typeface="メイリオ"/>
                <a:ea typeface="メイリオ"/>
              </a:rPr>
              <a:t>コスト・運用・テスト機構</a:t>
            </a:r>
          </a:p>
        </p:txBody>
      </p:sp>
      <p:sp>
        <p:nvSpPr>
          <p:cNvPr id="17" name="Oval 16"/>
          <p:cNvSpPr/>
          <p:nvPr/>
        </p:nvSpPr>
        <p:spPr>
          <a:xfrm>
            <a:off x="1828800" y="6505302"/>
            <a:ext cx="718457" cy="718457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600">
                <a:solidFill>
                  <a:srgbClr val="FFFFFF"/>
                </a:solidFill>
                <a:latin typeface="メイリオ"/>
                <a:ea typeface="メイリオ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6596742"/>
            <a:ext cx="7894015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b="1" sz="2400">
                <a:solidFill>
                  <a:srgbClr val="222222"/>
                </a:solidFill>
                <a:latin typeface="メイリオ"/>
                <a:ea typeface="メイリオ"/>
              </a:rPr>
              <a:t>制約・リスク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700">
                <a:solidFill>
                  <a:srgbClr val="1F3A7A"/>
                </a:solidFill>
                <a:latin typeface="メイリオ"/>
                <a:ea typeface="メイリオ"/>
              </a:rPr>
              <a:t>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b="1" sz="3000">
                <a:solidFill>
                  <a:srgbClr val="1F3A7A"/>
                </a:solidFill>
                <a:latin typeface="メイリオ"/>
                <a:ea typeface="メイリオ"/>
              </a:rPr>
              <a:t>全体アーキテクチャ（ローカル Claude Code 主導）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212080" cy="4206240"/>
          </a:xfrm>
          <a:prstGeom prst="rect">
            <a:avLst/>
          </a:prstGeom>
          <a:noFill/>
          <a:ln w="9525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000">
                <a:solidFill>
                  <a:srgbClr val="666666"/>
                </a:solidFill>
                <a:latin typeface="メイリオ"/>
                <a:ea typeface="メイリオ"/>
              </a:rPr>
              <a:t>Local PC (Windows 11 / Max sub.)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194560" cy="914400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100">
                <a:solidFill>
                  <a:srgbClr val="1F3A7A"/>
                </a:solidFill>
                <a:latin typeface="メイリオ"/>
                <a:ea typeface="メイリオ"/>
              </a:rPr>
              <a:t>Windows タスク</a:t>
            </a:r>
          </a:p>
          <a:p>
            <a:pPr algn="ctr"/>
            <a:r>
              <a:rPr b="1" sz="1100">
                <a:solidFill>
                  <a:srgbClr val="1F3A7A"/>
                </a:solidFill>
                <a:latin typeface="メイリオ"/>
                <a:ea typeface="メイリオ"/>
              </a:rPr>
              <a:t>「News-Grasp Runner」</a:t>
            </a:r>
          </a:p>
          <a:p>
            <a:pPr algn="ctr"/>
            <a:r>
              <a:rPr b="1" sz="1100">
                <a:solidFill>
                  <a:srgbClr val="1F3A7A"/>
                </a:solidFill>
                <a:latin typeface="メイリオ"/>
                <a:ea typeface="メイリオ"/>
              </a:rPr>
              <a:t>毎日 06:00 JST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691640"/>
            <a:ext cx="21945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000">
                <a:solidFill>
                  <a:srgbClr val="1F3A7A"/>
                </a:solidFill>
                <a:latin typeface="メイリオ"/>
                <a:ea typeface="メイリオ"/>
              </a:rPr>
              <a:t>news-grasp-runner.bat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945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900">
                <a:solidFill>
                  <a:srgbClr val="666666"/>
                </a:solidFill>
                <a:latin typeface="メイリオ"/>
                <a:ea typeface="メイリオ"/>
              </a:rPr>
              <a:t>git pull → claude --print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4663440" cy="1188720"/>
          </a:xfrm>
          <a:prstGeom prst="roundRect">
            <a:avLst/>
          </a:prstGeom>
          <a:solidFill>
            <a:srgbClr val="1F3A7A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claude.exe --print</a:t>
            </a:r>
          </a:p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Sonnet 4.6</a:t>
            </a:r>
          </a:p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--tools default</a:t>
            </a:r>
          </a:p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--dangerously-skip-permissions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97680"/>
            <a:ext cx="4663440" cy="1188720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100">
                <a:solidFill>
                  <a:srgbClr val="1F3A7A"/>
                </a:solidFill>
                <a:latin typeface="メイリオ"/>
                <a:ea typeface="メイリオ"/>
              </a:rPr>
              <a:t>Obsidian Vault</a:t>
            </a:r>
          </a:p>
          <a:p>
            <a:pPr algn="ctr"/>
            <a:r>
              <a:rPr b="1" sz="1100">
                <a:solidFill>
                  <a:srgbClr val="1F3A7A"/>
                </a:solidFill>
                <a:latin typeface="メイリオ"/>
                <a:ea typeface="メイリオ"/>
              </a:rPr>
              <a:t>  News's Grasp/News-Grasp/</a:t>
            </a:r>
          </a:p>
          <a:p>
            <a:pPr algn="ctr"/>
            <a:r>
              <a:rPr b="1" sz="1100">
                <a:solidFill>
                  <a:srgbClr val="1F3A7A"/>
                </a:solidFill>
                <a:latin typeface="メイリオ"/>
                <a:ea typeface="メイリオ"/>
              </a:rPr>
              <a:t>  digest/{Genre}/...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463040"/>
            <a:ext cx="5852160" cy="4206240"/>
          </a:xfrm>
          <a:prstGeom prst="rect">
            <a:avLst/>
          </a:prstGeom>
          <a:noFill/>
          <a:ln w="9525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325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000">
                <a:solidFill>
                  <a:srgbClr val="666666"/>
                </a:solidFill>
                <a:latin typeface="メイリオ"/>
                <a:ea typeface="メイリオ"/>
              </a:rPr>
              <a:t>Cloud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2468880" cy="1188720"/>
          </a:xfrm>
          <a:prstGeom prst="roundRect">
            <a:avLst/>
          </a:prstGeom>
          <a:solidFill>
            <a:srgbClr val="5FA8E0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GitHub</a:t>
            </a:r>
          </a:p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HIDEPON-UMG/News-Grasp</a:t>
            </a:r>
          </a:p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(private repo)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077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900">
                <a:solidFill>
                  <a:srgbClr val="666666"/>
                </a:solidFill>
                <a:latin typeface="メイリオ"/>
                <a:ea typeface="メイリオ"/>
              </a:rPr>
              <a:t>digest/  data/  prompts/  assets/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91640"/>
            <a:ext cx="2468880" cy="1188720"/>
          </a:xfrm>
          <a:prstGeom prst="roundRect">
            <a:avLst/>
          </a:prstGeom>
          <a:solidFill>
            <a:srgbClr val="162B5C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GAS Web App</a:t>
            </a:r>
          </a:p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news-grasp-mailer</a:t>
            </a:r>
          </a:p>
          <a:p>
            <a:pPr algn="ctr"/>
            <a:r>
              <a:rPr b="1" sz="1200">
                <a:solidFill>
                  <a:srgbClr val="FFFFFF"/>
                </a:solidFill>
                <a:latin typeface="メイリオ"/>
                <a:ea typeface="メイリオ"/>
              </a:rPr>
              <a:t>(hidepontrainer@gmail)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077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900">
                <a:solidFill>
                  <a:srgbClr val="666666"/>
                </a:solidFill>
                <a:latin typeface="メイリオ"/>
                <a:ea typeface="メイリオ"/>
              </a:rPr>
              <a:t>client + 宛先ホワイトリスト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383280"/>
            <a:ext cx="2468880" cy="1188720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100">
                <a:solidFill>
                  <a:srgbClr val="1F3A7A"/>
                </a:solidFill>
                <a:latin typeface="メイリオ"/>
                <a:ea typeface="メイリオ"/>
              </a:rPr>
              <a:t>Gmail</a:t>
            </a:r>
          </a:p>
          <a:p>
            <a:pPr algn="ctr"/>
            <a:r>
              <a:rPr b="1" sz="1100">
                <a:solidFill>
                  <a:srgbClr val="1F3A7A"/>
                </a:solidFill>
                <a:latin typeface="メイリオ"/>
                <a:ea typeface="メイリオ"/>
              </a:rPr>
              <a:t>hideki.kusunoki@gmail.com</a:t>
            </a:r>
          </a:p>
          <a:p>
            <a:pPr algn="ctr"/>
            <a:r>
              <a:rPr b="1" sz="1100">
                <a:solidFill>
                  <a:srgbClr val="1F3A7A"/>
                </a:solidFill>
                <a:latin typeface="メイリオ"/>
                <a:ea typeface="メイリオ"/>
              </a:rPr>
              <a:t>h2-hiramatsu@nri.co.jp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1800" y="2606040"/>
            <a:ext cx="0" cy="228600"/>
          </a:xfrm>
          <a:prstGeom prst="line">
            <a:avLst/>
          </a:prstGeom>
          <a:ln w="1905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349240" y="2103120"/>
            <a:ext cx="868680" cy="1005840"/>
          </a:xfrm>
          <a:prstGeom prst="line">
            <a:avLst/>
          </a:prstGeom>
          <a:ln w="1905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349240" y="2468880"/>
            <a:ext cx="868680" cy="914400"/>
          </a:xfrm>
          <a:prstGeom prst="line">
            <a:avLst/>
          </a:prstGeom>
          <a:ln w="1905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20640" y="23317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900">
                <a:solidFill>
                  <a:srgbClr val="666666"/>
                </a:solidFill>
                <a:latin typeface="メイリオ"/>
                <a:ea typeface="メイリオ"/>
              </a:rPr>
              <a:t>git pull / push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349240" y="2103120"/>
            <a:ext cx="3794760" cy="1143000"/>
          </a:xfrm>
          <a:prstGeom prst="line">
            <a:avLst/>
          </a:prstGeom>
          <a:ln w="1905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0" y="2331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900">
                <a:solidFill>
                  <a:srgbClr val="666666"/>
                </a:solidFill>
                <a:latin typeface="メイリオ"/>
                <a:ea typeface="メイリオ"/>
              </a:rPr>
              <a:t>Webhook POST</a:t>
            </a:r>
          </a:p>
          <a:p>
            <a:pPr algn="ctr"/>
            <a:r>
              <a:rPr b="1" sz="900">
                <a:solidFill>
                  <a:srgbClr val="666666"/>
                </a:solidFill>
                <a:latin typeface="メイリオ"/>
                <a:ea typeface="メイリオ"/>
              </a:rPr>
              <a:t>(client=news-grasp-routine)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378440" y="2907792"/>
            <a:ext cx="0" cy="475488"/>
          </a:xfrm>
          <a:prstGeom prst="line">
            <a:avLst/>
          </a:prstGeom>
          <a:ln w="1905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612880" y="306324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900">
                <a:solidFill>
                  <a:srgbClr val="666666"/>
                </a:solidFill>
                <a:latin typeface="メイリオ"/>
                <a:ea typeface="メイリオ"/>
              </a:rPr>
              <a:t>GmailApp.sendEmail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349240" y="2834640"/>
            <a:ext cx="868680" cy="1463040"/>
          </a:xfrm>
          <a:prstGeom prst="line">
            <a:avLst/>
          </a:prstGeom>
          <a:ln w="19050">
            <a:solidFill>
              <a:srgbClr val="162B5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0" y="37033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900">
                <a:solidFill>
                  <a:srgbClr val="666666"/>
                </a:solidFill>
                <a:latin typeface="メイリオ"/>
                <a:ea typeface="メイリオ"/>
              </a:rPr>
              <a:t>Runner 内 git pull で同期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700">
                <a:solidFill>
                  <a:srgbClr val="1F3A7A"/>
                </a:solidFill>
                <a:latin typeface="メイリオ"/>
                <a:ea typeface="メイリオ"/>
              </a:rPr>
              <a:t>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b="1" sz="3000">
                <a:solidFill>
                  <a:srgbClr val="1F3A7A"/>
                </a:solidFill>
                <a:latin typeface="メイリオ"/>
                <a:ea typeface="メイリオ"/>
              </a:rPr>
              <a:t>処理フロー — 8 ステップ</a:t>
            </a:r>
          </a:p>
        </p:txBody>
      </p:sp>
      <p:sp>
        <p:nvSpPr>
          <p:cNvPr id="5" name="Oval 4"/>
          <p:cNvSpPr/>
          <p:nvPr/>
        </p:nvSpPr>
        <p:spPr>
          <a:xfrm>
            <a:off x="797814" y="182880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77440"/>
            <a:ext cx="1321308" cy="905256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1F3A7A"/>
                </a:solidFill>
                <a:latin typeface="メイリオ"/>
                <a:ea typeface="メイリオ"/>
              </a:rPr>
              <a:t>曜日判定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364992"/>
            <a:ext cx="132130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対象カテゴリ</a:t>
            </a:r>
          </a:p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(4 or 5)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830068"/>
            <a:ext cx="100584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28850" y="182880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メイリオ"/>
                <a:ea typeface="メイリオ"/>
              </a:rPr>
              <a:t>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2516" y="2377440"/>
            <a:ext cx="1321308" cy="905256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1F3A7A"/>
                </a:solidFill>
                <a:latin typeface="メイリオ"/>
                <a:ea typeface="メイリオ"/>
              </a:rPr>
              <a:t>状態 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2516" y="3364992"/>
            <a:ext cx="132130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watchlist /</a:t>
            </a:r>
          </a:p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articles.jsonl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68396" y="2830068"/>
            <a:ext cx="100584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659886" y="182880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メイリオ"/>
                <a:ea typeface="メイリオ"/>
              </a:rPr>
              <a:t>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2377440"/>
            <a:ext cx="1321308" cy="905256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1F3A7A"/>
                </a:solidFill>
                <a:latin typeface="メイリオ"/>
                <a:ea typeface="メイリオ"/>
              </a:rPr>
              <a:t>WebSearch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3552" y="3364992"/>
            <a:ext cx="132130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10 件 / カテゴリ</a:t>
            </a:r>
          </a:p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スコア降順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99432" y="2830068"/>
            <a:ext cx="100584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90922" y="182880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メイリオ"/>
                <a:ea typeface="メイリオ"/>
              </a:rPr>
              <a:t>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4588" y="2377440"/>
            <a:ext cx="1321308" cy="905256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1F3A7A"/>
                </a:solidFill>
                <a:latin typeface="メイリオ"/>
                <a:ea typeface="メイリオ"/>
              </a:rPr>
              <a:t>OGP 取得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4588" y="3364992"/>
            <a:ext cx="132130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WebFetch x N</a:t>
            </a:r>
          </a:p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失敗→NG画像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0468" y="2830068"/>
            <a:ext cx="100584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521958" y="182880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メイリオ"/>
                <a:ea typeface="メイリオ"/>
              </a:rPr>
              <a:t>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2377440"/>
            <a:ext cx="1321308" cy="905256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1F3A7A"/>
                </a:solidFill>
                <a:latin typeface="メイリオ"/>
                <a:ea typeface="メイリオ"/>
              </a:rPr>
              <a:t>関連照合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3364992"/>
            <a:ext cx="132130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過去90日 ×</a:t>
            </a:r>
          </a:p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5 軸マッチ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61504" y="2830068"/>
            <a:ext cx="100584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952993" y="182880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メイリオ"/>
                <a:ea typeface="メイリオ"/>
              </a:rPr>
              <a:t>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6659" y="2377440"/>
            <a:ext cx="1321308" cy="905256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1F3A7A"/>
                </a:solidFill>
                <a:latin typeface="メイリオ"/>
                <a:ea typeface="メイリオ"/>
              </a:rPr>
              <a:t>digest 生成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66659" y="3364992"/>
            <a:ext cx="132130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MD + JSONL</a:t>
            </a:r>
          </a:p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(Summary 含)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92540" y="2830068"/>
            <a:ext cx="100584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384030" y="182880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メイリオ"/>
                <a:ea typeface="メイリオ"/>
              </a:rPr>
              <a:t>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7696" y="2377440"/>
            <a:ext cx="1321308" cy="905256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1F3A7A"/>
                </a:solidFill>
                <a:latin typeface="メイリオ"/>
                <a:ea typeface="メイリオ"/>
              </a:rPr>
              <a:t>commit/push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7696" y="3364992"/>
            <a:ext cx="132130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per-category</a:t>
            </a:r>
          </a:p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folders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323576" y="2830068"/>
            <a:ext cx="100584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815065" y="182880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メイリオ"/>
                <a:ea typeface="メイリオ"/>
              </a:rPr>
              <a:t>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8732" y="2377440"/>
            <a:ext cx="1321308" cy="905256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1" sz="1200">
                <a:solidFill>
                  <a:srgbClr val="1F3A7A"/>
                </a:solidFill>
                <a:latin typeface="メイリオ"/>
                <a:ea typeface="メイリオ"/>
              </a:rPr>
              <a:t>メール送信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8732" y="3364992"/>
            <a:ext cx="132130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GAS Webhook</a:t>
            </a:r>
          </a:p>
          <a:p>
            <a:pPr algn="ctr"/>
            <a:r>
              <a:rPr b="0" sz="800">
                <a:solidFill>
                  <a:srgbClr val="666666"/>
                </a:solidFill>
                <a:latin typeface="メイリオ"/>
                <a:ea typeface="メイリオ"/>
              </a:rPr>
              <a:t>→ Gmail x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480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100">
                <a:solidFill>
                  <a:srgbClr val="222222"/>
                </a:solidFill>
                <a:latin typeface="メイリオ"/>
                <a:ea typeface="メイリオ"/>
              </a:rPr>
              <a:t>失敗時は最大 3 回リトライ（30s → 60s → 120s）。最終失敗時は data/_status.md に追記し、Webhook で件名「[News-Grasp 失敗] YYYY-MM-DD」のメールを送信。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700">
                <a:solidFill>
                  <a:srgbClr val="1F3A7A"/>
                </a:solidFill>
                <a:latin typeface="メイリオ"/>
                <a:ea typeface="メイリオ"/>
              </a:rPr>
              <a:t>デザイン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b="1" sz="3000">
                <a:solidFill>
                  <a:srgbClr val="1F3A7A"/>
                </a:solidFill>
                <a:latin typeface="メイリオ"/>
                <a:ea typeface="メイリオ"/>
              </a:rPr>
              <a:t>5 カテゴリ × アクセントカラー × 強調記法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2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/>
                <a:gridCol w="1917140"/>
                <a:gridCol w="1917140"/>
                <a:gridCol w="1917140"/>
                <a:gridCol w="1917140"/>
              </a:tblGrid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ID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カテゴリ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英名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アクセント色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グリフ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fx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為替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Foreign Exchange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#B8860B（琥珀）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ai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AI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Artificial Intelligence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#2D5BB8（電子青）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◆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IT-Consulting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IT &amp; Consulting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#2E6B52（苔緑）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economy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経済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Economy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#8E2A19（深紅）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■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ゲーム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#5E3D8C（洋紫）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257800"/>
            <a:ext cx="11277295" cy="1005839"/>
          </a:xfrm>
          <a:prstGeom prst="rect">
            <a:avLst/>
          </a:prstGeom>
          <a:solidFill>
            <a:srgbClr val="D9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30952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222222"/>
              </a:buClr>
              <a:lnSpc>
                <a:spcPct val="135000"/>
              </a:lnSpc>
              <a:buFont typeface="Arial"/>
              <a:buChar char="●"/>
            </a:pPr>
            <a:r>
              <a:rPr b="0" sz="1600">
                <a:solidFill>
                  <a:srgbClr val="222222"/>
                </a:solidFill>
                <a:latin typeface="メイリオ"/>
                <a:ea typeface="メイリオ"/>
              </a:rPr>
              <a:t>強調記法 [[キーワード]] = 太字 + アクセント色背景（記事あたり 2〜4 箇所）</a:t>
            </a:r>
          </a:p>
          <a:p>
            <a:pPr marL="228600" indent="-228600">
              <a:buClr>
                <a:srgbClr val="222222"/>
              </a:buClr>
              <a:lnSpc>
                <a:spcPct val="135000"/>
              </a:lnSpc>
              <a:buFont typeface="Arial"/>
              <a:buChar char="●"/>
            </a:pPr>
            <a:r>
              <a:rPr b="0" sz="1600">
                <a:solidFill>
                  <a:srgbClr val="222222"/>
                </a:solidFill>
                <a:latin typeface="メイリオ"/>
                <a:ea typeface="メイリオ"/>
              </a:rPr>
              <a:t>強調記法 __重要文__ = 下線 + 太字（段落あたり 1〜2 箇所）</a:t>
            </a:r>
          </a:p>
          <a:p>
            <a:pPr marL="228600" indent="-228600">
              <a:buClr>
                <a:srgbClr val="222222"/>
              </a:buClr>
              <a:lnSpc>
                <a:spcPct val="135000"/>
              </a:lnSpc>
              <a:buFont typeface="Arial"/>
              <a:buChar char="●"/>
            </a:pPr>
            <a:r>
              <a:rPr b="0" sz="1600">
                <a:solidFill>
                  <a:srgbClr val="222222"/>
                </a:solidFill>
                <a:latin typeface="メイリオ"/>
                <a:ea typeface="メイリオ"/>
              </a:rPr>
              <a:t>本文 Noto Serif JP（明朝） / メタ JetBrains Mono / 欧文 Inter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700">
                <a:solidFill>
                  <a:srgbClr val="1F3A7A"/>
                </a:solidFill>
                <a:latin typeface="メイリオ"/>
                <a:ea typeface="メイリオ"/>
              </a:rPr>
              <a:t>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b="1" sz="3000">
                <a:solidFill>
                  <a:srgbClr val="1F3A7A"/>
                </a:solidFill>
                <a:latin typeface="メイリオ"/>
                <a:ea typeface="メイリオ"/>
              </a:rPr>
              <a:t>曜日 × カテゴリマトリクス（毎朝 06:00 JST 起動）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292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/>
                <a:gridCol w="1278093"/>
                <a:gridCol w="1278093"/>
                <a:gridCol w="1278093"/>
                <a:gridCol w="1278093"/>
                <a:gridCol w="1278093"/>
                <a:gridCol w="1278093"/>
              </a:tblGrid>
              <a:tr h="480059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曜日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FX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AI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IT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Economy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Game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計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火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5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木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5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土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</a:tr>
              <a:tr h="480066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257800"/>
            <a:ext cx="11277295" cy="1005839"/>
          </a:xfrm>
          <a:prstGeom prst="rect">
            <a:avLst/>
          </a:prstGeom>
          <a:solidFill>
            <a:srgbClr val="D9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30952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222222"/>
              </a:buClr>
              <a:lnSpc>
                <a:spcPct val="135000"/>
              </a:lnSpc>
              <a:buFont typeface="Arial"/>
              <a:buChar char="●"/>
            </a:pPr>
            <a:r>
              <a:rPr b="0" sz="1600">
                <a:solidFill>
                  <a:srgbClr val="222222"/>
                </a:solidFill>
                <a:latin typeface="メイリオ"/>
                <a:ea typeface="メイリオ"/>
              </a:rPr>
              <a:t>FX は独立カテゴリで毎日掲載。Economy は平日のみ、Game は火木土日のみ</a:t>
            </a:r>
          </a:p>
          <a:p>
            <a:pPr marL="228600" indent="-228600">
              <a:buClr>
                <a:srgbClr val="222222"/>
              </a:buClr>
              <a:lnSpc>
                <a:spcPct val="135000"/>
              </a:lnSpc>
              <a:buFont typeface="Arial"/>
              <a:buChar char="●"/>
            </a:pPr>
            <a:r>
              <a:rPr b="0" sz="1600">
                <a:solidFill>
                  <a:srgbClr val="222222"/>
                </a:solidFill>
                <a:latin typeface="メイリオ"/>
                <a:ea typeface="メイリオ"/>
              </a:rPr>
              <a:t>サムネ：FEATURED 568×200 = カテゴリ別キービジュアル / サイド 140×90 = カテゴリ別共通系</a:t>
            </a:r>
          </a:p>
          <a:p>
            <a:pPr marL="228600" indent="-228600">
              <a:buClr>
                <a:srgbClr val="222222"/>
              </a:buClr>
              <a:lnSpc>
                <a:spcPct val="135000"/>
              </a:lnSpc>
              <a:buFont typeface="Arial"/>
              <a:buChar char="●"/>
            </a:pPr>
            <a:r>
              <a:rPr b="0" sz="1600">
                <a:solidFill>
                  <a:srgbClr val="222222"/>
                </a:solidFill>
                <a:latin typeface="メイリオ"/>
                <a:ea typeface="メイリオ"/>
              </a:rPr>
              <a:t>OGP 画像が取得できた記事はそれを優先表示、取得失敗時のみ NG プレースホルダ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700">
                <a:solidFill>
                  <a:srgbClr val="1F3A7A"/>
                </a:solidFill>
                <a:latin typeface="メイリオ"/>
                <a:ea typeface="メイリオ"/>
              </a:rPr>
              <a:t>業績ポイント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b="1" sz="3000">
                <a:solidFill>
                  <a:srgbClr val="1F3A7A"/>
                </a:solidFill>
                <a:latin typeface="メイリオ"/>
                <a:ea typeface="メイリオ"/>
              </a:rPr>
              <a:t>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39"/>
            <a:ext cx="256032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採用方針</a:t>
            </a:r>
          </a:p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の変遷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700">
                <a:solidFill>
                  <a:srgbClr val="D9E7F5"/>
                </a:solidFill>
                <a:latin typeface="メイリオ"/>
                <a:ea typeface="メイリオ"/>
              </a:rPr>
              <a:t>経緯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325880"/>
            <a:ext cx="80311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200">
                <a:solidFill>
                  <a:srgbClr val="1F3A7A"/>
                </a:solidFill>
                <a:latin typeface="メイリオ"/>
                <a:ea typeface="メイリオ"/>
              </a:rPr>
              <a:t>■ 経緯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8031175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計画時：4 案比較で ② Anthropic Routine を最有力に決定（Max 内・PC オフ非依存・実装最短）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実装後：Routine の「クラウドコンテナをセットアップ中」が 1 時間以上ハングする事象が連続発生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原因：新規環境のプロビジョニング不安定 + private repo の OAuth 連携が未対応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翌朝の自動発火も同様に動かず、Routine 機能の実用適合性が運用に耐えないと判断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256032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採用方針</a:t>
            </a:r>
          </a:p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の変遷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700">
                <a:solidFill>
                  <a:srgbClr val="D9E7F5"/>
                </a:solidFill>
                <a:latin typeface="メイリオ"/>
                <a:ea typeface="メイリオ"/>
              </a:rPr>
              <a:t>D 案（採用版）への移行と利点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931920"/>
            <a:ext cx="80311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200">
                <a:solidFill>
                  <a:srgbClr val="1F3A7A"/>
                </a:solidFill>
                <a:latin typeface="メイリオ"/>
                <a:ea typeface="メイリオ"/>
              </a:rPr>
              <a:t>■ D 案（採用版）への移行と利点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434840"/>
            <a:ext cx="8031175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Windows タスクスケジューラ → claude.exe --print --tools default で本番運用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Max サブスク内で完結（追加 API 課金 $0、5h 枠 15〜25%/回）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GitHub repo・GAS Webhook・Obsidian ボルト・watchlist は ② から流用、無駄なし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PC オン時のみ動くが、毎朝起動の習慣があれば実用上問題なし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700">
                <a:solidFill>
                  <a:srgbClr val="1F3A7A"/>
                </a:solidFill>
                <a:latin typeface="メイリオ"/>
                <a:ea typeface="メイリオ"/>
              </a:rPr>
              <a:t>コスト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b="1" sz="3000">
                <a:solidFill>
                  <a:srgbClr val="1F3A7A"/>
                </a:solidFill>
                <a:latin typeface="メイリオ"/>
                <a:ea typeface="メイリオ"/>
              </a:rPr>
              <a:t>月額コスト内訳（追加課金ゼロ）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292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/>
                <a:gridCol w="2556186"/>
                <a:gridCol w="2556186"/>
                <a:gridCol w="2556186"/>
              </a:tblGrid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項目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課金経路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月額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0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備考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Claude Sonnet 4.6 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Max サブスク内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5h 枠の 15〜25%/回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GitHub プライベート repo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個人プラン無料枠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Contents R/W、PAT 不要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GAS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Workspace 無料枠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Gmail 送信は 100 通/日まで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メール配信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Gmail (GAS 経由)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送信元 hidepontrainer@gmail.com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Max 既存契約のみで完結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603832" y="1261872"/>
            <a:ext cx="2592762" cy="3877055"/>
          </a:xfrm>
          <a:prstGeom prst="rect">
            <a:avLst/>
          </a:prstGeom>
          <a:noFill/>
          <a:ln w="31750">
            <a:solidFill>
              <a:srgbClr val="5FA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57800"/>
            <a:ext cx="11277295" cy="1005839"/>
          </a:xfrm>
          <a:prstGeom prst="rect">
            <a:avLst/>
          </a:prstGeom>
          <a:solidFill>
            <a:srgbClr val="D9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30952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222222"/>
              </a:buClr>
              <a:lnSpc>
                <a:spcPct val="135000"/>
              </a:lnSpc>
              <a:buFont typeface="Arial"/>
              <a:buChar char="●"/>
            </a:pPr>
            <a:r>
              <a:rPr b="0" sz="1600">
                <a:solidFill>
                  <a:srgbClr val="222222"/>
                </a:solidFill>
                <a:latin typeface="メイリオ"/>
                <a:ea typeface="メイリオ"/>
              </a:rPr>
              <a:t>5h 枠は朝 06:00 実行のためユーザーの作業時間と干渉しない</a:t>
            </a:r>
          </a:p>
          <a:p>
            <a:pPr marL="228600" indent="-228600">
              <a:buClr>
                <a:srgbClr val="222222"/>
              </a:buClr>
              <a:lnSpc>
                <a:spcPct val="135000"/>
              </a:lnSpc>
              <a:buFont typeface="Arial"/>
              <a:buChar char="●"/>
            </a:pPr>
            <a:r>
              <a:rPr b="0" sz="1600">
                <a:solidFill>
                  <a:srgbClr val="222222"/>
                </a:solidFill>
                <a:latin typeface="メイリオ"/>
                <a:ea typeface="メイリオ"/>
              </a:rPr>
              <a:t>5 カテゴリ × 10 件 + 5 セクション考察 + サムネ OGP 取得で約 80-120k トークン入力 / 8-12k トークン出力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700">
                <a:solidFill>
                  <a:srgbClr val="1F3A7A"/>
                </a:solidFill>
                <a:latin typeface="メイリオ"/>
                <a:ea typeface="メイリオ"/>
              </a:rPr>
              <a:t>業績ポイント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b="1" sz="3000">
                <a:solidFill>
                  <a:srgbClr val="1F3A7A"/>
                </a:solidFill>
                <a:latin typeface="メイリオ"/>
                <a:ea typeface="メイリオ"/>
              </a:rPr>
              <a:t>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39"/>
            <a:ext cx="256032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ファイル</a:t>
            </a:r>
          </a:p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構造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700">
                <a:solidFill>
                  <a:srgbClr val="D9E7F5"/>
                </a:solidFill>
                <a:latin typeface="メイリオ"/>
                <a:ea typeface="メイリオ"/>
              </a:rPr>
              <a:t>リポジトリ構成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325880"/>
            <a:ext cx="80311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200">
                <a:solidFill>
                  <a:srgbClr val="1F3A7A"/>
                </a:solidFill>
                <a:latin typeface="メイリオ"/>
                <a:ea typeface="メイリオ"/>
              </a:rPr>
              <a:t>■ リポジトリ構成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8031175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digest/{FX,AI,IT-Consulting,Economy,Game}/ — カテゴリ別フォルダで管理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digest/Summary/ — 日次サマリー（テーマ考察ハブ）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data/watchlist.md — ★ ユーザー編集可、トラッキング対象一覧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data/articles.jsonl — 過去 90 日の記事メタ（自動ローテート）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prompts/routine-system.md / email-template.html / obsidian-template.md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assets/ng-thumb-{cat}.jpg + ng-thumb-common-{cat}.jpg（v2 Claude Design 提供 10 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256032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ファイル</a:t>
            </a:r>
          </a:p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構造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700">
                <a:solidFill>
                  <a:srgbClr val="D9E7F5"/>
                </a:solidFill>
                <a:latin typeface="メイリオ"/>
                <a:ea typeface="メイリオ"/>
              </a:rPr>
              <a:t>単体テスト機構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931920"/>
            <a:ext cx="80311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200">
                <a:solidFill>
                  <a:srgbClr val="1F3A7A"/>
                </a:solidFill>
                <a:latin typeface="メイリオ"/>
                <a:ea typeface="メイリオ"/>
              </a:rPr>
              <a:t>■ 単体テスト機構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434840"/>
            <a:ext cx="8031175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tests/render_email.py — Claude を呼ばずに HTML テンプレートだけ確認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A) python tests/render_email.py — preview.html 生成（$0 / 1-2 秒）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C) python tests/render_email.py --send — Webhook 経由で実送信（$0 / 5-10 秒）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tests/mock_data.py に 5 カテゴリ × 5 件のサンプル（強調記法 [[]] / __ 含む）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700">
                <a:solidFill>
                  <a:srgbClr val="1F3A7A"/>
                </a:solidFill>
                <a:latin typeface="メイリオ"/>
                <a:ea typeface="メイリオ"/>
              </a:rPr>
              <a:t>業績ポイント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b="1" sz="3000">
                <a:solidFill>
                  <a:srgbClr val="1F3A7A"/>
                </a:solidFill>
                <a:latin typeface="メイリオ"/>
                <a:ea typeface="メイリオ"/>
              </a:rPr>
              <a:t>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39"/>
            <a:ext cx="256032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制約・</a:t>
            </a:r>
          </a:p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リスク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700">
                <a:solidFill>
                  <a:srgbClr val="D9E7F5"/>
                </a:solidFill>
                <a:latin typeface="メイリオ"/>
                <a:ea typeface="メイリオ"/>
              </a:rPr>
              <a:t>情報源・配信の制約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325880"/>
            <a:ext cx="80311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200">
                <a:solidFill>
                  <a:srgbClr val="1F3A7A"/>
                </a:solidFill>
                <a:latin typeface="メイリオ"/>
                <a:ea typeface="メイリオ"/>
              </a:rPr>
              <a:t>■ 情報源・配信の制約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8031175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NewsPicks 有料記事は認証ゲートのため公開部分のみ参照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NRI 宛メール（h2-hiramatsu@nri.co.jp）は外部メールフィルタで弾かれる可能性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→ 不達時は hideki.kusunoki@gmail.com で受信し、必要時に手動転送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256032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制約・</a:t>
            </a:r>
          </a:p>
          <a:p>
            <a:pPr algn="ctr"/>
            <a:r>
              <a:rPr b="1" sz="2200">
                <a:solidFill>
                  <a:srgbClr val="FFFFFF"/>
                </a:solidFill>
                <a:latin typeface="メイリオ"/>
                <a:ea typeface="メイリオ"/>
              </a:rPr>
              <a:t>リスク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700">
                <a:solidFill>
                  <a:srgbClr val="D9E7F5"/>
                </a:solidFill>
                <a:latin typeface="メイリオ"/>
                <a:ea typeface="メイリオ"/>
              </a:rPr>
              <a:t>運用上の依存・恒久ルール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931920"/>
            <a:ext cx="80311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200">
                <a:solidFill>
                  <a:srgbClr val="1F3A7A"/>
                </a:solidFill>
                <a:latin typeface="メイリオ"/>
                <a:ea typeface="メイリオ"/>
              </a:rPr>
              <a:t>■ 運用上の依存・恒久ルール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434840"/>
            <a:ext cx="8031175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Max サブスクの 5h 枠を朝 6 時に消費（日中の作業と時間帯競合させない）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PC オン時に Runner が動く前提（土日 PC オフだとその日はスキップされる）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Windows .bat は CRLF 必須・ASCII のみ・goto 構造（feedback memory に恒久ルール記録済み）</a:t>
            </a:r>
          </a:p>
          <a:p>
            <a:pPr marL="228600" indent="-228600">
              <a:buClr>
                <a:srgbClr val="222222"/>
              </a:buClr>
              <a:lnSpc>
                <a:spcPct val="140000"/>
              </a:lnSpc>
              <a:buFont typeface="Arial"/>
              <a:buChar char="●"/>
            </a:pPr>
            <a:r>
              <a:rPr b="0" sz="1800">
                <a:solidFill>
                  <a:srgbClr val="222222"/>
                </a:solidFill>
                <a:latin typeface="メイリオ"/>
                <a:ea typeface="メイリオ"/>
              </a:rPr>
              <a:t>メール HTML 内画像は base64 inline 必須（private repo の raw URL は受信側からアクセス不可）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8000">
                <a:solidFill>
                  <a:srgbClr val="1F3A7A"/>
                </a:solidFill>
                <a:latin typeface="Segoe UI"/>
                <a:ea typeface="Segoe UI"/>
              </a:rPr>
              <a:t>News-Grasp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862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0" sz="2200">
                <a:solidFill>
                  <a:srgbClr val="666666"/>
                </a:solidFill>
                <a:latin typeface="メイリオ"/>
                <a:ea typeface="メイリオ"/>
              </a:rPr>
              <a:t>Five Lenses on Today · D-plan in production · 2026-04-28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