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57200" y="6492240"/>
            <a:ext cx="73302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666666"/>
                </a:solidFill>
                <a:latin typeface="メイリオ"/>
                <a:ea typeface="メイリオ"/>
              </a:rPr>
              <a:t>本資料は News-Grasp プロジェクトの内部設計メモです。社外配布は想定していません。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911535" y="6492240"/>
            <a:ext cx="320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CF40720-7B4F-485C-B2CB-906E457782F0}" type="slidenum">
              <a:rPr lang="ja-JP" sz="1300" b="0">
                <a:solidFill>
                  <a:srgbClr val="222222"/>
                </a:solidFill>
                <a:latin typeface="メイリオ"/>
                <a:ea typeface="メイリオ"/>
              </a:rPr>
              <a:t>‹#›</a:t>
            </a:fld>
          </a:p>
        </p:txBody>
      </p:sp>
      <p:sp>
        <p:nvSpPr>
          <p:cNvPr id="2" name="TextBox 1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1600">
                <a:solidFill>
                  <a:srgbClr val="1F3A7A"/>
                </a:solidFill>
                <a:latin typeface="メイリオ"/>
                <a:ea typeface="メイリオ"/>
              </a:rPr>
              <a:t>News-Grasp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6400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b="1" sz="5200">
                <a:solidFill>
                  <a:srgbClr val="1F3A7A"/>
                </a:solidFill>
                <a:latin typeface="メイリオ"/>
                <a:ea typeface="メイリオ"/>
              </a:rPr>
              <a:t>News-Grasp</a:t>
            </a:r>
          </a:p>
          <a:p>
            <a:pPr>
              <a:lnSpc>
                <a:spcPct val="110000"/>
              </a:lnSpc>
            </a:pPr>
            <a:r>
              <a:rPr b="1" sz="5200">
                <a:solidFill>
                  <a:srgbClr val="1F3A7A"/>
                </a:solidFill>
                <a:latin typeface="メイリオ"/>
                <a:ea typeface="メイリオ"/>
              </a:rPr>
              <a:t>仕様 &amp; アーキテクチャ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News-Grasp</a:t>
            </a:r>
          </a:p>
          <a:p>
            <a:pPr>
              <a:lnSpc>
                <a:spcPct val="150000"/>
              </a:lnSpc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毎日 Web 情報収集 + 関連付け解説 Agent</a:t>
            </a:r>
          </a:p>
          <a:p>
            <a:pPr>
              <a:lnSpc>
                <a:spcPct val="150000"/>
              </a:lnSpc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2026年4月28日 / 最終運用形態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217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b="0" sz="1400">
                <a:solidFill>
                  <a:srgbClr val="666666"/>
                </a:solidFill>
                <a:latin typeface="メイリオ"/>
                <a:ea typeface="メイリオ"/>
              </a:rPr>
              <a:t>Local Claude Code × GitHub × GAS Webhook · D-plan</a:t>
            </a:r>
          </a:p>
        </p:txBody>
      </p:sp>
      <p:pic>
        <p:nvPicPr>
          <p:cNvPr id="6" name="Picture 5" descr="cover-ai-compres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917" y="274320"/>
            <a:ext cx="372362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AGENDA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137160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46304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全体アーキテクチャ（D 案）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213741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22885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処理フロー（8 ステップ）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290322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99466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デザインシステム &amp; 5 カテゴリ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366903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76047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Obsidian タグ仕様（階層タグ + entity）</a:t>
            </a:r>
          </a:p>
        </p:txBody>
      </p:sp>
      <p:sp>
        <p:nvSpPr>
          <p:cNvPr id="13" name="Oval 12"/>
          <p:cNvSpPr/>
          <p:nvPr/>
        </p:nvSpPr>
        <p:spPr>
          <a:xfrm>
            <a:off x="1828800" y="443484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526279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曜日マトリクス &amp; サムネ運用</a:t>
            </a:r>
          </a:p>
        </p:txBody>
      </p:sp>
      <p:sp>
        <p:nvSpPr>
          <p:cNvPr id="15" name="Oval 14"/>
          <p:cNvSpPr/>
          <p:nvPr/>
        </p:nvSpPr>
        <p:spPr>
          <a:xfrm>
            <a:off x="1828800" y="520065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29209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採用方針の変遷（② → D 案）</a:t>
            </a:r>
          </a:p>
        </p:txBody>
      </p:sp>
      <p:sp>
        <p:nvSpPr>
          <p:cNvPr id="17" name="Oval 16"/>
          <p:cNvSpPr/>
          <p:nvPr/>
        </p:nvSpPr>
        <p:spPr>
          <a:xfrm>
            <a:off x="1828800" y="596646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605790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コスト・運用・テスト機構</a:t>
            </a:r>
          </a:p>
        </p:txBody>
      </p:sp>
      <p:sp>
        <p:nvSpPr>
          <p:cNvPr id="19" name="Oval 18"/>
          <p:cNvSpPr/>
          <p:nvPr/>
        </p:nvSpPr>
        <p:spPr>
          <a:xfrm>
            <a:off x="1828800" y="673227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823709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制約・リスク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アーキテクチャ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全体アーキテクチャ（ローカル Claude Code 主導）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212080" cy="4206240"/>
          </a:xfrm>
          <a:prstGeom prst="rect">
            <a:avLst/>
          </a:prstGeom>
          <a:noFill/>
          <a:ln w="9525">
            <a:solidFill>
              <a:srgbClr val="6666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b="1" sz="1000">
                <a:solidFill>
                  <a:srgbClr val="666666"/>
                </a:solidFill>
                <a:latin typeface="メイリオ"/>
                <a:ea typeface="メイリオ"/>
              </a:rPr>
              <a:t>Local PC (Windows 11 / Max sub.)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2194560" cy="914400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Windows タスク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「News-Grasp Runner」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毎日 06:00 JST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691640"/>
            <a:ext cx="219456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000">
                <a:solidFill>
                  <a:srgbClr val="1F3A7A"/>
                </a:solidFill>
                <a:latin typeface="メイリオ"/>
                <a:ea typeface="メイリオ"/>
              </a:rPr>
              <a:t>news-grasp-runner.bat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1945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git pull → claude --print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34640"/>
            <a:ext cx="4663440" cy="1188720"/>
          </a:xfrm>
          <a:prstGeom prst="roundRect">
            <a:avLst/>
          </a:prstGeom>
          <a:solidFill>
            <a:srgbClr val="1F3A7A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claude.exe --print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Sonnet 4.6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--tools default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--dangerously-skip-permissions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297680"/>
            <a:ext cx="4663440" cy="1188720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Obsidian Vault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  News's Grasp/News-Grasp/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  digest/{Genre}/...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463040"/>
            <a:ext cx="5852160" cy="4206240"/>
          </a:xfrm>
          <a:prstGeom prst="rect">
            <a:avLst/>
          </a:prstGeom>
          <a:noFill/>
          <a:ln w="9525">
            <a:solidFill>
              <a:srgbClr val="6666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3258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b="1" sz="1000">
                <a:solidFill>
                  <a:srgbClr val="666666"/>
                </a:solidFill>
                <a:latin typeface="メイリオ"/>
                <a:ea typeface="メイリオ"/>
              </a:rPr>
              <a:t>Cloud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2468880" cy="1188720"/>
          </a:xfrm>
          <a:prstGeom prst="roundRect">
            <a:avLst/>
          </a:prstGeom>
          <a:solidFill>
            <a:srgbClr val="5FA8E0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GitHub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HIDEPON-UMG/News-Grasp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(private repo)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9077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digest/  data/  prompts/  assets/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691640"/>
            <a:ext cx="2468880" cy="1188720"/>
          </a:xfrm>
          <a:prstGeom prst="roundRect">
            <a:avLst/>
          </a:prstGeom>
          <a:solidFill>
            <a:srgbClr val="162B5C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GAS Web App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news-grasp-mailer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(hidepontrainer@gmail)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9077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client + 宛先ホワイトリスト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383280"/>
            <a:ext cx="2468880" cy="1188720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Gmail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hideki.kusunoki@gmail.com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h2-hiramatsu@nri.co.jp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71800" y="2606040"/>
            <a:ext cx="0" cy="228600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49240" y="2103120"/>
            <a:ext cx="868680" cy="1005840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349240" y="2468880"/>
            <a:ext cx="868680" cy="914400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120640" y="2331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git pull / push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349240" y="2103120"/>
            <a:ext cx="3794760" cy="1143000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0" y="2331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Webhook POST</a:t>
            </a:r>
          </a:p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(client=news-grasp-routine)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378440" y="2907792"/>
            <a:ext cx="0" cy="475488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612880" y="30632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GmailApp.sendEmail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5349240" y="2834640"/>
            <a:ext cx="868680" cy="1463040"/>
          </a:xfrm>
          <a:prstGeom prst="line">
            <a:avLst/>
          </a:prstGeom>
          <a:ln w="19050">
            <a:solidFill>
              <a:srgbClr val="162B5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0" y="37033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Runner 内 git pull で同期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処理フロー — 8 ステップ</a:t>
            </a:r>
          </a:p>
        </p:txBody>
      </p:sp>
      <p:sp>
        <p:nvSpPr>
          <p:cNvPr id="5" name="Oval 4"/>
          <p:cNvSpPr/>
          <p:nvPr/>
        </p:nvSpPr>
        <p:spPr>
          <a:xfrm>
            <a:off x="797814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曜日判定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対象カテゴリ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(4 or 5)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28850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42516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状態 Read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2516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watchlist /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articles.jsonl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68396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659886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WebSearch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3552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10 件 / カテゴリ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スコア降順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99432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090922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4588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OGP 取得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4588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WebFetch x N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失敗→NG画像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0468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521958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35624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関連照合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35624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過去90日 ×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5 軸マッチ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61504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952993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66659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digest 生成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66659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MD + JSONL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(Summary 含)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92540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384030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97696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commit/push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7696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per-category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folders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323576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0815065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28732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メール送信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8732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GAS Webhook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→ Gmail x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480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b="1" sz="1100">
                <a:solidFill>
                  <a:srgbClr val="222222"/>
                </a:solidFill>
                <a:latin typeface="メイリオ"/>
                <a:ea typeface="メイリオ"/>
              </a:rPr>
              <a:t>失敗時は最大 3 回リトライ（30s → 60s → 120s）。最終失敗時は data/_status.md に追記し、Webhook で件名「[News-Grasp 失敗] YYYY-MM-DD」のメールを送信。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デザイン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5 カテゴリ × アクセントカラー × 強調記法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294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734"/>
                <a:gridCol w="1917140"/>
                <a:gridCol w="1917140"/>
                <a:gridCol w="1917140"/>
                <a:gridCol w="1917140"/>
              </a:tblGrid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ID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カテゴリ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英名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アクセント色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グリフ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fx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為替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Foreign Exchange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#B8860B（琥珀）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ai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AI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Artificial Intelligence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#2D5BB8（電子青）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◆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IT-Consulting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IT &amp; Consulting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#2E6B52（苔緑）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economy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経済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Economy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#8E2A19（深紅）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■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40084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ゲーム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#5E3D8C（洋紫）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257800"/>
            <a:ext cx="11277295" cy="1005839"/>
          </a:xfrm>
          <a:prstGeom prst="rect">
            <a:avLst/>
          </a:prstGeom>
          <a:solidFill>
            <a:srgbClr val="D9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30952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強調記法 [[キーワード]] = 太字 + アクセント色背景（記事あたり 2〜4 箇所）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強調記法 __重要文__ = 下線 + 太字（段落あたり 1〜2 箇所）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本文 Noto Serif JP（明朝） / メタ JetBrains Mono / 欧文 Inter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タグ仕様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Obsidian 階層タグ — 5 entity + 4 補助 + score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292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734"/>
                <a:gridCol w="2556186"/>
                <a:gridCol w="2556186"/>
                <a:gridCol w="2556186"/>
              </a:tblGrid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プレフィクス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種別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値の規則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例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（なし）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共通固定 4 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英字、号番号入り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daily / newsletter / news-grasp / issue-{号}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cat/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カテゴリ id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5 種固定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cat/fx / cat/ai / cat/it / cat/economy / cat/game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企業／組織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日本語優先（英字固有名詞は原文）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co/トヨタ / co/NTTデータ / co/OpenAI / co/NVIDIA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country/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国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日本語国名（EU は EU）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country/日本 / country/米国 / country/EU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svc/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サービス／製品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原文。スペース→ハイフン、ピリオド→アンダースコア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svc/Claude / svc/Switch-2 / svc/GPT-5_5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person/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人名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日本語フルネーム、中点 ・ OK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person/植田和男 / person/ジェローム・パウエル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ticker/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株式・通貨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大文字。スラッシュは削除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ticker/USDJPY / ticker/NVDA / ticker/7974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topic/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テーマ（1〜3 個）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日本語推奨、国際略号 OK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topic/利下げ / topic/FOMC / topic/規制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industry/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業界（0〜2 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industry/半導体 / industry/IT-コンサル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event/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イベント種別（0〜2 個）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event/決算 / event/製品発表 / event/政策会合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score/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重要度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高 (≥85) / 中 (65-84) / 低 (&lt;65)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score/高 / score/中 / score/低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257800"/>
            <a:ext cx="11277295" cy="1005839"/>
          </a:xfrm>
          <a:prstGeom prst="rect">
            <a:avLst/>
          </a:prstGeom>
          <a:solidFill>
            <a:srgbClr val="D9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30952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タグ値で使えない文字：半角スペース → '-'、スラッシュ '/' → 削除、ピリオド '.' → '_'。中点 '・' と長音 'ー' は OK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Runner は記事要約と同じターンで entities/topics/industries/events を JSON 出力 → tags[] に階層化して frontmatter / 記事カード行内 / articles.jsonl に展開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正本仕様: prompts/obsidian-tagging-spec.md（毎回 Read で読み込む）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運用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曜日 × カテゴリマトリクス（毎朝 06:00 JST 起動）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292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734"/>
                <a:gridCol w="1278093"/>
                <a:gridCol w="1278093"/>
                <a:gridCol w="1278093"/>
                <a:gridCol w="1278093"/>
                <a:gridCol w="1278093"/>
                <a:gridCol w="1278093"/>
              </a:tblGrid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曜日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FX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AI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IT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Economy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Game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計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火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木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土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480066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257800"/>
            <a:ext cx="11277295" cy="1005839"/>
          </a:xfrm>
          <a:prstGeom prst="rect">
            <a:avLst/>
          </a:prstGeom>
          <a:solidFill>
            <a:srgbClr val="D9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30952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FX は独立カテゴリで毎日掲載。Economy は平日のみ、Game は火木土日のみ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サムネ：FEATURED 568×200 = カテゴリ別キービジュアル / サイド 140×90 = カテゴリ別共通系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OGP 画像が取得できた記事はそれを優先表示、取得失敗時のみ NG プレースホルダ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業績ポイント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39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採用方針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の変遷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経緯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2588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経緯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計画時：4 案比較で ② Anthropic Routine を最有力に決定（Max 内・PC オフ非依存・実装最短）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実装後：Routine の「クラウドコンテナをセットアップ中」が 1 時間以上ハングする事象が連続発生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原因：新規環境のプロビジョニング不安定 + private repo の OAuth 連携が未対応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翌朝の自動発火も同様に動かず、Routine 機能の実用適合性が運用に耐えないと判断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8620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採用方針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の変遷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D 案（採用版）への移行と利点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93192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D 案（採用版）への移行と利点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43484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Windows タスクスケジューラ → claude.exe --print --tools default で本番運用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Max サブスク内で完結（追加 API 課金 $0、5h 枠 15〜25%/回）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GitHub repo・GAS Webhook・Obsidian ボルト・watchlist は ② から流用、無駄なし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PC オン時のみ動くが、毎朝起動の習慣があれば実用上問題なし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コスト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月額コスト内訳（追加課金ゼロ）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292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734"/>
                <a:gridCol w="2556186"/>
                <a:gridCol w="2556186"/>
                <a:gridCol w="2556186"/>
              </a:tblGrid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項目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課金経路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月額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備考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Claude Sonnet 4.6 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Max サブスク内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5h 枠の 15〜25%/回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GitHub プライベート repo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個人プラン無料枠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Contents R/W、PAT 不要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GAS Webhook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Workspace 無料枠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Gmail 送信は 100 通/日まで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メール配信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Gmail (GAS 経由)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送信元 hidepontrainer@gmail.com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40084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Max 既存契約のみで完結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603832" y="1261872"/>
            <a:ext cx="2592762" cy="3877055"/>
          </a:xfrm>
          <a:prstGeom prst="rect">
            <a:avLst/>
          </a:prstGeom>
          <a:noFill/>
          <a:ln w="31750">
            <a:solidFill>
              <a:srgbClr val="5FA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257800"/>
            <a:ext cx="11277295" cy="1005839"/>
          </a:xfrm>
          <a:prstGeom prst="rect">
            <a:avLst/>
          </a:prstGeom>
          <a:solidFill>
            <a:srgbClr val="D9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30952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5h 枠は朝 06:00 実行のためユーザーの作業時間と干渉しない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5 カテゴリ × 10 件 + 5 セクション考察 + サムネ OGP 取得で約 80-120k トークン入力 / 8-12k トークン出力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業績ポイント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39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ファイル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構造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リポジトリ構成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2588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リポジトリ構成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digest/{FX,AI,IT-Consulting,Economy,Game}/ — カテゴリ別フォルダで管理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digest/Summary/ — 日次サマリー（テーマ考察ハブ）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data/watchlist.md — ★ ユーザー編集可、トラッキング対象一覧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data/articles.jsonl — 過去 90 日の記事メタ（自動ローテート、entities/topics/tags 拡張済み）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prompts/routine-system.md / obsidian-tagging-spec.md / email-template.html / obsidian-template.md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assets/ng-thumb-{cat}.jpg + ng-thumb-common-{cat}.jpg（v2 Claude Design 提供 10 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8620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ファイル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構造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単体テスト機構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93192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単体テスト機構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43484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tests/render_email.py — Claude を呼ばずに HTML テンプレートだけ確認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A) python tests/render_email.py — preview.html 生成（$0 / 1-2 秒）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C) python tests/render_email.py --send — Webhook 経由で実送信（$0 / 5-10 秒）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tests/mock_data.py に 5 カテゴリ × 5 件のサンプル（強調記法 [[]] / __ 含む）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業績ポイント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39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制約・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リスク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情報源・配信の制約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2588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情報源・配信の制約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NewsPicks 有料記事は認証ゲートのため公開部分のみ参照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NRI 宛メール（h2-hiramatsu@nri.co.jp）は外部メールフィルタで弾かれる可能性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→ 不達時は hideki.kusunoki@gmail.com で受信し、必要時に手動転送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8620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制約・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リスク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運用上の依存・恒久ルール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93192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運用上の依存・恒久ルール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43484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Max サブスクの 5h 枠を朝 6 時に消費（日中の作業と時間帯競合させない）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PC オン時に Runner が動く前提（土日 PC オフだとその日はスキップされる）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Windows .bat は CRLF 必須・ASCII のみ・goto 構造（feedback memory に恒久ルール記録済み）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メール HTML 内画像は base64 inline 必須（private repo の raw URL は受信側からアクセス不可）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8000">
                <a:solidFill>
                  <a:srgbClr val="1F3A7A"/>
                </a:solidFill>
                <a:latin typeface="Segoe UI"/>
                <a:ea typeface="Segoe UI"/>
              </a:rPr>
              <a:t>News-Grasp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8620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0" sz="2200">
                <a:solidFill>
                  <a:srgbClr val="666666"/>
                </a:solidFill>
                <a:latin typeface="メイリオ"/>
                <a:ea typeface="メイリオ"/>
              </a:rPr>
              <a:t>Five Lenses on Today · D-plan in production · 2026-04-28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